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6C3EC7"/>
          </a:solidFill>
          <a:ln/>
        </p:spPr>
      </p:sp>
      <p:sp>
        <p:nvSpPr>
          <p:cNvPr id="3" name="Shape 1"/>
          <p:cNvSpPr/>
          <p:nvPr/>
        </p:nvSpPr>
        <p:spPr>
          <a:xfrm>
            <a:off x="-1463040" y="4572000"/>
            <a:ext cx="3291840" cy="3291840"/>
          </a:xfrm>
          <a:prstGeom prst="ellipse">
            <a:avLst/>
          </a:prstGeom>
          <a:solidFill>
            <a:srgbClr val="3E7CF6"/>
          </a:solidFill>
          <a:ln/>
        </p:spPr>
      </p:sp>
      <p:sp>
        <p:nvSpPr>
          <p:cNvPr id="4" name="Shape 2"/>
          <p:cNvSpPr/>
          <p:nvPr/>
        </p:nvSpPr>
        <p:spPr>
          <a:xfrm>
            <a:off x="10881360" y="5120640"/>
            <a:ext cx="2011680" cy="2011680"/>
          </a:xfrm>
          <a:prstGeom prst="ellipse">
            <a:avLst/>
          </a:prstGeom>
          <a:solidFill>
            <a:srgbClr val="F14FA7"/>
          </a:solidFill>
          <a:ln/>
        </p:spPr>
      </p:sp>
      <p:sp>
        <p:nvSpPr>
          <p:cNvPr id="5" name="Text 3"/>
          <p:cNvSpPr/>
          <p:nvPr/>
        </p:nvSpPr>
        <p:spPr>
          <a:xfrm>
            <a:off x="640080" y="1143000"/>
            <a:ext cx="10881360" cy="914400"/>
          </a:xfrm>
          <a:prstGeom prst="rect">
            <a:avLst/>
          </a:prstGeom>
          <a:noFill/>
          <a:ln/>
        </p:spPr>
        <p:txBody>
          <a:bodyPr wrap="square" rtlCol="0" anchor="ctr"/>
          <a:lstStyle/>
          <a:p>
            <a:pPr algn="l" indent="0" marL="0">
              <a:buNone/>
            </a:pPr>
            <a:r>
              <a:rPr lang="en-US" sz="4400" b="1" dirty="0">
                <a:solidFill>
                  <a:srgbClr val="241546"/>
                </a:solidFill>
                <a:latin typeface="Cambria" pitchFamily="34" charset="0"/>
                <a:ea typeface="Cambria" pitchFamily="34" charset="-122"/>
                <a:cs typeface="Cambria" pitchFamily="34" charset="-120"/>
              </a:rPr>
              <a:t>COMPLAINT TRACKER</a:t>
            </a:r>
            <a:endParaRPr lang="en-US" sz="4400" dirty="0"/>
          </a:p>
        </p:txBody>
      </p:sp>
      <p:sp>
        <p:nvSpPr>
          <p:cNvPr id="6" name="Text 4"/>
          <p:cNvSpPr/>
          <p:nvPr/>
        </p:nvSpPr>
        <p:spPr>
          <a:xfrm>
            <a:off x="658368" y="1993392"/>
            <a:ext cx="9875520" cy="548640"/>
          </a:xfrm>
          <a:prstGeom prst="rect">
            <a:avLst/>
          </a:prstGeom>
          <a:noFill/>
          <a:ln/>
        </p:spPr>
        <p:txBody>
          <a:bodyPr wrap="square" rtlCol="0" anchor="ctr"/>
          <a:lstStyle/>
          <a:p>
            <a:pPr algn="l" indent="0" marL="0">
              <a:buNone/>
            </a:pPr>
            <a:r>
              <a:rPr lang="en-US" sz="1700" i="1" dirty="0">
                <a:solidFill>
                  <a:srgbClr val="F14FA7"/>
                </a:solidFill>
                <a:latin typeface="Calibri" pitchFamily="34" charset="0"/>
                <a:ea typeface="Calibri" pitchFamily="34" charset="-122"/>
                <a:cs typeface="Calibri" pitchFamily="34" charset="-120"/>
              </a:rPr>
              <a:t>A Java-Based Complaint Management System using Data Structures &amp; Algorithms</a:t>
            </a:r>
            <a:endParaRPr lang="en-US" sz="1700" dirty="0"/>
          </a:p>
        </p:txBody>
      </p:sp>
      <p:sp>
        <p:nvSpPr>
          <p:cNvPr id="7" name="Shape 5"/>
          <p:cNvSpPr/>
          <p:nvPr/>
        </p:nvSpPr>
        <p:spPr>
          <a:xfrm>
            <a:off x="640080" y="2926080"/>
            <a:ext cx="10881360" cy="2651760"/>
          </a:xfrm>
          <a:prstGeom prst="roundRect">
            <a:avLst>
              <a:gd name="adj" fmla="val 4138"/>
            </a:avLst>
          </a:prstGeom>
          <a:solidFill>
            <a:srgbClr val="3D2270"/>
          </a:solidFill>
          <a:ln/>
        </p:spPr>
      </p:sp>
      <p:sp>
        <p:nvSpPr>
          <p:cNvPr id="8" name="Text 6"/>
          <p:cNvSpPr/>
          <p:nvPr/>
        </p:nvSpPr>
        <p:spPr>
          <a:xfrm>
            <a:off x="960120" y="3127248"/>
            <a:ext cx="5486400" cy="365760"/>
          </a:xfrm>
          <a:prstGeom prst="rect">
            <a:avLst/>
          </a:prstGeom>
          <a:noFill/>
          <a:ln/>
        </p:spPr>
        <p:txBody>
          <a:bodyPr wrap="square" rtlCol="0" anchor="ctr"/>
          <a:lstStyle/>
          <a:p>
            <a:pPr indent="0" marL="0">
              <a:buNone/>
            </a:pPr>
            <a:r>
              <a:rPr lang="en-US" sz="1400" b="1" spc="200" kern="0" dirty="0">
                <a:solidFill>
                  <a:srgbClr val="F14FA7"/>
                </a:solidFill>
                <a:latin typeface="Calibri" pitchFamily="34" charset="0"/>
                <a:ea typeface="Calibri" pitchFamily="34" charset="-122"/>
                <a:cs typeface="Calibri" pitchFamily="34" charset="-120"/>
              </a:rPr>
              <a:t>PROJECT TEAM</a:t>
            </a:r>
            <a:endParaRPr lang="en-US" sz="1400" dirty="0"/>
          </a:p>
        </p:txBody>
      </p:sp>
      <p:sp>
        <p:nvSpPr>
          <p:cNvPr id="9" name="Shape 7"/>
          <p:cNvSpPr/>
          <p:nvPr/>
        </p:nvSpPr>
        <p:spPr>
          <a:xfrm>
            <a:off x="1051560" y="3776472"/>
            <a:ext cx="146304" cy="146304"/>
          </a:xfrm>
          <a:prstGeom prst="ellipse">
            <a:avLst/>
          </a:prstGeom>
          <a:solidFill>
            <a:srgbClr val="3E7CF6"/>
          </a:solidFill>
          <a:ln/>
        </p:spPr>
      </p:sp>
      <p:sp>
        <p:nvSpPr>
          <p:cNvPr id="10" name="Text 8"/>
          <p:cNvSpPr/>
          <p:nvPr/>
        </p:nvSpPr>
        <p:spPr>
          <a:xfrm>
            <a:off x="1371600" y="3611880"/>
            <a:ext cx="356616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 Sri Ram</a:t>
            </a:r>
            <a:endParaRPr lang="en-US" sz="1600" dirty="0"/>
          </a:p>
        </p:txBody>
      </p:sp>
      <p:sp>
        <p:nvSpPr>
          <p:cNvPr id="11" name="Text 9"/>
          <p:cNvSpPr/>
          <p:nvPr/>
        </p:nvSpPr>
        <p:spPr>
          <a:xfrm>
            <a:off x="1371600" y="3913632"/>
            <a:ext cx="3566160" cy="274320"/>
          </a:xfrm>
          <a:prstGeom prst="rect">
            <a:avLst/>
          </a:prstGeom>
          <a:noFill/>
          <a:ln/>
        </p:spPr>
        <p:txBody>
          <a:bodyPr wrap="square" rtlCol="0" anchor="ctr"/>
          <a:lstStyle/>
          <a:p>
            <a:pPr indent="0" marL="0">
              <a:buNone/>
            </a:pPr>
            <a:r>
              <a:rPr lang="en-US" sz="1200" dirty="0">
                <a:solidFill>
                  <a:srgbClr val="F7F5FC"/>
                </a:solidFill>
                <a:latin typeface="Calibri" pitchFamily="34" charset="0"/>
                <a:ea typeface="Calibri" pitchFamily="34" charset="-122"/>
                <a:cs typeface="Calibri" pitchFamily="34" charset="-120"/>
              </a:rPr>
              <a:t>Reg. No: 2520030218</a:t>
            </a:r>
            <a:endParaRPr lang="en-US" sz="1200" dirty="0"/>
          </a:p>
        </p:txBody>
      </p:sp>
      <p:sp>
        <p:nvSpPr>
          <p:cNvPr id="12" name="Shape 10"/>
          <p:cNvSpPr/>
          <p:nvPr/>
        </p:nvSpPr>
        <p:spPr>
          <a:xfrm>
            <a:off x="1051560" y="4434840"/>
            <a:ext cx="146304" cy="146304"/>
          </a:xfrm>
          <a:prstGeom prst="ellipse">
            <a:avLst/>
          </a:prstGeom>
          <a:solidFill>
            <a:srgbClr val="3E7CF6"/>
          </a:solidFill>
          <a:ln/>
        </p:spPr>
      </p:sp>
      <p:sp>
        <p:nvSpPr>
          <p:cNvPr id="13" name="Text 11"/>
          <p:cNvSpPr/>
          <p:nvPr/>
        </p:nvSpPr>
        <p:spPr>
          <a:xfrm>
            <a:off x="1371600" y="4270248"/>
            <a:ext cx="356616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 Chandrika</a:t>
            </a:r>
            <a:endParaRPr lang="en-US" sz="1600" dirty="0"/>
          </a:p>
        </p:txBody>
      </p:sp>
      <p:sp>
        <p:nvSpPr>
          <p:cNvPr id="14" name="Text 12"/>
          <p:cNvSpPr/>
          <p:nvPr/>
        </p:nvSpPr>
        <p:spPr>
          <a:xfrm>
            <a:off x="1371600" y="4572000"/>
            <a:ext cx="3566160" cy="274320"/>
          </a:xfrm>
          <a:prstGeom prst="rect">
            <a:avLst/>
          </a:prstGeom>
          <a:noFill/>
          <a:ln/>
        </p:spPr>
        <p:txBody>
          <a:bodyPr wrap="square" rtlCol="0" anchor="ctr"/>
          <a:lstStyle/>
          <a:p>
            <a:pPr indent="0" marL="0">
              <a:buNone/>
            </a:pPr>
            <a:r>
              <a:rPr lang="en-US" sz="1200" dirty="0">
                <a:solidFill>
                  <a:srgbClr val="F7F5FC"/>
                </a:solidFill>
                <a:latin typeface="Calibri" pitchFamily="34" charset="0"/>
                <a:ea typeface="Calibri" pitchFamily="34" charset="-122"/>
                <a:cs typeface="Calibri" pitchFamily="34" charset="-120"/>
              </a:rPr>
              <a:t>Reg. No: 2520030047</a:t>
            </a:r>
            <a:endParaRPr lang="en-US" sz="1200" dirty="0"/>
          </a:p>
        </p:txBody>
      </p:sp>
      <p:sp>
        <p:nvSpPr>
          <p:cNvPr id="15" name="Shape 13"/>
          <p:cNvSpPr/>
          <p:nvPr/>
        </p:nvSpPr>
        <p:spPr>
          <a:xfrm>
            <a:off x="1051560" y="5093208"/>
            <a:ext cx="146304" cy="146304"/>
          </a:xfrm>
          <a:prstGeom prst="ellipse">
            <a:avLst/>
          </a:prstGeom>
          <a:solidFill>
            <a:srgbClr val="3E7CF6"/>
          </a:solidFill>
          <a:ln/>
        </p:spPr>
      </p:sp>
      <p:sp>
        <p:nvSpPr>
          <p:cNvPr id="16" name="Text 14"/>
          <p:cNvSpPr/>
          <p:nvPr/>
        </p:nvSpPr>
        <p:spPr>
          <a:xfrm>
            <a:off x="1371600" y="4928616"/>
            <a:ext cx="356616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 B. Vedaditya</a:t>
            </a:r>
            <a:endParaRPr lang="en-US" sz="1600" dirty="0"/>
          </a:p>
        </p:txBody>
      </p:sp>
      <p:sp>
        <p:nvSpPr>
          <p:cNvPr id="17" name="Text 15"/>
          <p:cNvSpPr/>
          <p:nvPr/>
        </p:nvSpPr>
        <p:spPr>
          <a:xfrm>
            <a:off x="1371600" y="5230368"/>
            <a:ext cx="3566160" cy="274320"/>
          </a:xfrm>
          <a:prstGeom prst="rect">
            <a:avLst/>
          </a:prstGeom>
          <a:noFill/>
          <a:ln/>
        </p:spPr>
        <p:txBody>
          <a:bodyPr wrap="square" rtlCol="0" anchor="ctr"/>
          <a:lstStyle/>
          <a:p>
            <a:pPr indent="0" marL="0">
              <a:buNone/>
            </a:pPr>
            <a:r>
              <a:rPr lang="en-US" sz="1200" dirty="0">
                <a:solidFill>
                  <a:srgbClr val="F7F5FC"/>
                </a:solidFill>
                <a:latin typeface="Calibri" pitchFamily="34" charset="0"/>
                <a:ea typeface="Calibri" pitchFamily="34" charset="-122"/>
                <a:cs typeface="Calibri" pitchFamily="34" charset="-120"/>
              </a:rPr>
              <a:t>Reg. No: 2520030481</a:t>
            </a:r>
            <a:endParaRPr lang="en-US" sz="1200" dirty="0"/>
          </a:p>
        </p:txBody>
      </p:sp>
      <p:sp>
        <p:nvSpPr>
          <p:cNvPr id="23" name="Text 21"/>
          <p:cNvSpPr/>
          <p:nvPr/>
        </p:nvSpPr>
        <p:spPr>
          <a:xfrm>
            <a:off x="640080" y="6263640"/>
            <a:ext cx="7315200" cy="320040"/>
          </a:xfrm>
          <a:prstGeom prst="rect">
            <a:avLst/>
          </a:prstGeom>
          <a:noFill/>
          <a:ln/>
        </p:spPr>
        <p:txBody>
          <a:bodyPr wrap="square" rtlCol="0" anchor="ctr"/>
          <a:lstStyle/>
          <a:p>
            <a:pPr indent="0" marL="0">
              <a:buNone/>
            </a:pPr>
            <a:r>
              <a:rPr lang="en-US" sz="1100" dirty="0">
                <a:solidFill>
                  <a:srgbClr val="7A6C99"/>
                </a:solidFill>
                <a:latin typeface="Calibri" pitchFamily="34" charset="0"/>
                <a:ea typeface="Calibri" pitchFamily="34" charset="-122"/>
                <a:cs typeface="Calibri" pitchFamily="34" charset="-120"/>
              </a:rPr>
              <a:t>Project Title  |  Complaint Tracker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600" b="1" dirty="0">
                <a:solidFill>
                  <a:srgbClr val="241546"/>
                </a:solidFill>
                <a:latin typeface="Cambria" pitchFamily="34" charset="0"/>
                <a:ea typeface="Cambria" pitchFamily="34" charset="-122"/>
                <a:cs typeface="Cambria" pitchFamily="34" charset="-120"/>
              </a:rPr>
              <a:t>Abstract</a:t>
            </a:r>
            <a:endParaRPr lang="en-US" sz="3600" dirty="0"/>
          </a:p>
        </p:txBody>
      </p:sp>
      <p:sp>
        <p:nvSpPr>
          <p:cNvPr id="3" name="Text 1"/>
          <p:cNvSpPr/>
          <p:nvPr/>
        </p:nvSpPr>
        <p:spPr>
          <a:xfrm>
            <a:off x="640080" y="1371600"/>
            <a:ext cx="6949440" cy="1737360"/>
          </a:xfrm>
          <a:prstGeom prst="rect">
            <a:avLst/>
          </a:prstGeom>
          <a:noFill/>
          <a:ln/>
        </p:spPr>
        <p:txBody>
          <a:bodyPr wrap="square" rtlCol="0" anchor="t"/>
          <a:lstStyle/>
          <a:p>
            <a:pPr indent="0" marL="0">
              <a:lnSpc>
                <a:spcPct val="130000"/>
              </a:lnSpc>
              <a:buNone/>
            </a:pPr>
            <a:r>
              <a:rPr lang="en-US" sz="1500" b="1" dirty="0">
                <a:solidFill>
                  <a:srgbClr val="6C3EC7"/>
                </a:solidFill>
                <a:latin typeface="Calibri" pitchFamily="34" charset="0"/>
                <a:ea typeface="Calibri" pitchFamily="34" charset="-122"/>
                <a:cs typeface="Calibri" pitchFamily="34" charset="-120"/>
              </a:rPr>
              <a:t>The Complaint Tracker System </a:t>
            </a:r>
            <a:pPr indent="0" marL="0">
              <a:lnSpc>
                <a:spcPct val="130000"/>
              </a:lnSpc>
              <a:buNone/>
            </a:pPr>
            <a:r>
              <a:rPr lang="en-US" sz="1500" dirty="0">
                <a:solidFill>
                  <a:srgbClr val="241546"/>
                </a:solidFill>
                <a:latin typeface="Calibri" pitchFamily="34" charset="0"/>
                <a:ea typeface="Calibri" pitchFamily="34" charset="-122"/>
                <a:cs typeface="Calibri" pitchFamily="34" charset="-120"/>
              </a:rPr>
              <a:t>is a Java-based application built to efficiently manage and track customer complaints within an organization. It allows users to register complaints, search records, update complaint status, and view complaint details in an organized way.</a:t>
            </a:r>
            <a:endParaRPr lang="en-US" sz="1500" dirty="0"/>
          </a:p>
        </p:txBody>
      </p:sp>
      <p:sp>
        <p:nvSpPr>
          <p:cNvPr id="4" name="Text 2"/>
          <p:cNvSpPr/>
          <p:nvPr/>
        </p:nvSpPr>
        <p:spPr>
          <a:xfrm>
            <a:off x="640080" y="3200400"/>
            <a:ext cx="6949440" cy="1737360"/>
          </a:xfrm>
          <a:prstGeom prst="rect">
            <a:avLst/>
          </a:prstGeom>
          <a:noFill/>
          <a:ln/>
        </p:spPr>
        <p:txBody>
          <a:bodyPr wrap="square" rtlCol="0" anchor="t"/>
          <a:lstStyle/>
          <a:p>
            <a:pPr indent="0" marL="0">
              <a:lnSpc>
                <a:spcPct val="130000"/>
              </a:lnSpc>
              <a:buNone/>
            </a:pPr>
            <a:r>
              <a:rPr lang="en-US" sz="1500" dirty="0">
                <a:solidFill>
                  <a:srgbClr val="241546"/>
                </a:solidFill>
                <a:latin typeface="Calibri" pitchFamily="34" charset="0"/>
                <a:ea typeface="Calibri" pitchFamily="34" charset="-122"/>
                <a:cs typeface="Calibri" pitchFamily="34" charset="-120"/>
              </a:rPr>
              <a:t>To improve performance, the system applies </a:t>
            </a:r>
            <a:pPr indent="0" marL="0">
              <a:lnSpc>
                <a:spcPct val="130000"/>
              </a:lnSpc>
              <a:buNone/>
            </a:pPr>
            <a:r>
              <a:rPr lang="en-US" sz="1500" b="1" dirty="0">
                <a:solidFill>
                  <a:srgbClr val="3E7CF6"/>
                </a:solidFill>
                <a:latin typeface="Calibri" pitchFamily="34" charset="0"/>
                <a:ea typeface="Calibri" pitchFamily="34" charset="-122"/>
                <a:cs typeface="Calibri" pitchFamily="34" charset="-120"/>
              </a:rPr>
              <a:t>Data Structures and Algorithms</a:t>
            </a:r>
            <a:pPr indent="0" marL="0">
              <a:lnSpc>
                <a:spcPct val="130000"/>
              </a:lnSpc>
              <a:buNone/>
            </a:pPr>
            <a:r>
              <a:rPr lang="en-US" sz="1500" dirty="0">
                <a:solidFill>
                  <a:srgbClr val="241546"/>
                </a:solidFill>
                <a:latin typeface="Calibri" pitchFamily="34" charset="0"/>
                <a:ea typeface="Calibri" pitchFamily="34" charset="-122"/>
                <a:cs typeface="Calibri" pitchFamily="34" charset="-120"/>
              </a:rPr>
              <a:t> such as ArrayList for dynamic storage, HashMap for fast retrieval, Queue and PriorityQueue for processing complaints, and sorting/searching algorithms for efficient data handling.</a:t>
            </a:r>
            <a:endParaRPr lang="en-US" sz="1500" dirty="0"/>
          </a:p>
        </p:txBody>
      </p:sp>
      <p:sp>
        <p:nvSpPr>
          <p:cNvPr id="5" name="Text 3"/>
          <p:cNvSpPr/>
          <p:nvPr/>
        </p:nvSpPr>
        <p:spPr>
          <a:xfrm>
            <a:off x="640080" y="5074920"/>
            <a:ext cx="6949440" cy="914400"/>
          </a:xfrm>
          <a:prstGeom prst="rect">
            <a:avLst/>
          </a:prstGeom>
          <a:noFill/>
          <a:ln/>
        </p:spPr>
        <p:txBody>
          <a:bodyPr wrap="square" rtlCol="0" anchor="t"/>
          <a:lstStyle/>
          <a:p>
            <a:pPr indent="0" marL="0">
              <a:lnSpc>
                <a:spcPct val="125000"/>
              </a:lnSpc>
              <a:buNone/>
            </a:pPr>
            <a:r>
              <a:rPr lang="en-US" sz="1400" i="1" dirty="0">
                <a:solidFill>
                  <a:srgbClr val="7A6C99"/>
                </a:solidFill>
                <a:latin typeface="Calibri" pitchFamily="34" charset="0"/>
                <a:ea typeface="Calibri" pitchFamily="34" charset="-122"/>
                <a:cs typeface="Calibri" pitchFamily="34" charset="-120"/>
              </a:rPr>
              <a:t>By automating complaint handling, the system reduces manual effort, improves response time, and demonstrates the practical use of Java and DSA in solving a real-world problem.</a:t>
            </a:r>
            <a:endParaRPr lang="en-US" sz="1400" dirty="0"/>
          </a:p>
        </p:txBody>
      </p:sp>
      <p:sp>
        <p:nvSpPr>
          <p:cNvPr id="6" name="Shape 4"/>
          <p:cNvSpPr/>
          <p:nvPr/>
        </p:nvSpPr>
        <p:spPr>
          <a:xfrm>
            <a:off x="7955280" y="1371600"/>
            <a:ext cx="3566160" cy="4617720"/>
          </a:xfrm>
          <a:prstGeom prst="roundRect">
            <a:avLst>
              <a:gd name="adj" fmla="val 3077"/>
            </a:avLst>
          </a:prstGeom>
          <a:solidFill>
            <a:srgbClr val="2E1657"/>
          </a:solidFill>
          <a:ln/>
        </p:spPr>
      </p:sp>
      <p:sp>
        <p:nvSpPr>
          <p:cNvPr id="7" name="Text 5"/>
          <p:cNvSpPr/>
          <p:nvPr/>
        </p:nvSpPr>
        <p:spPr>
          <a:xfrm>
            <a:off x="8229600" y="1645920"/>
            <a:ext cx="3017520" cy="365760"/>
          </a:xfrm>
          <a:prstGeom prst="rect">
            <a:avLst/>
          </a:prstGeom>
          <a:noFill/>
          <a:ln/>
        </p:spPr>
        <p:txBody>
          <a:bodyPr wrap="square" rtlCol="0" anchor="ctr"/>
          <a:lstStyle/>
          <a:p>
            <a:pPr indent="0" marL="0">
              <a:buNone/>
            </a:pPr>
            <a:r>
              <a:rPr lang="en-US" sz="1300" b="1" spc="100" kern="0" dirty="0">
                <a:solidFill>
                  <a:srgbClr val="F14FA7"/>
                </a:solidFill>
                <a:latin typeface="Calibri" pitchFamily="34" charset="0"/>
                <a:ea typeface="Calibri" pitchFamily="34" charset="-122"/>
                <a:cs typeface="Calibri" pitchFamily="34" charset="-120"/>
              </a:rPr>
              <a:t>KEY DSA CONCEPTS</a:t>
            </a:r>
            <a:endParaRPr lang="en-US" sz="1300" dirty="0"/>
          </a:p>
        </p:txBody>
      </p:sp>
      <p:sp>
        <p:nvSpPr>
          <p:cNvPr id="8" name="Shape 6"/>
          <p:cNvSpPr/>
          <p:nvPr/>
        </p:nvSpPr>
        <p:spPr>
          <a:xfrm>
            <a:off x="8229600" y="2231136"/>
            <a:ext cx="128016" cy="128016"/>
          </a:xfrm>
          <a:prstGeom prst="ellipse">
            <a:avLst/>
          </a:prstGeom>
          <a:solidFill>
            <a:srgbClr val="3E7CF6"/>
          </a:solidFill>
          <a:ln/>
        </p:spPr>
      </p:sp>
      <p:sp>
        <p:nvSpPr>
          <p:cNvPr id="9" name="Text 7"/>
          <p:cNvSpPr/>
          <p:nvPr/>
        </p:nvSpPr>
        <p:spPr>
          <a:xfrm>
            <a:off x="8503920" y="2075688"/>
            <a:ext cx="2926080" cy="27432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ArrayList</a:t>
            </a:r>
            <a:endParaRPr lang="en-US" sz="1350" dirty="0"/>
          </a:p>
        </p:txBody>
      </p:sp>
      <p:sp>
        <p:nvSpPr>
          <p:cNvPr id="10" name="Text 8"/>
          <p:cNvSpPr/>
          <p:nvPr/>
        </p:nvSpPr>
        <p:spPr>
          <a:xfrm>
            <a:off x="8503920" y="2331720"/>
            <a:ext cx="2926080" cy="274320"/>
          </a:xfrm>
          <a:prstGeom prst="rect">
            <a:avLst/>
          </a:prstGeom>
          <a:noFill/>
          <a:ln/>
        </p:spPr>
        <p:txBody>
          <a:bodyPr wrap="square" rtlCol="0" anchor="ctr"/>
          <a:lstStyle/>
          <a:p>
            <a:pPr indent="0" marL="0">
              <a:buNone/>
            </a:pPr>
            <a:r>
              <a:rPr lang="en-US" sz="1100" dirty="0">
                <a:solidFill>
                  <a:srgbClr val="F7F5FC"/>
                </a:solidFill>
                <a:latin typeface="Calibri" pitchFamily="34" charset="0"/>
                <a:ea typeface="Calibri" pitchFamily="34" charset="-122"/>
                <a:cs typeface="Calibri" pitchFamily="34" charset="-120"/>
              </a:rPr>
              <a:t>Dynamic data storage</a:t>
            </a:r>
            <a:endParaRPr lang="en-US" sz="1100" dirty="0"/>
          </a:p>
        </p:txBody>
      </p:sp>
      <p:sp>
        <p:nvSpPr>
          <p:cNvPr id="11" name="Shape 9"/>
          <p:cNvSpPr/>
          <p:nvPr/>
        </p:nvSpPr>
        <p:spPr>
          <a:xfrm>
            <a:off x="8229600" y="3008376"/>
            <a:ext cx="128016" cy="128016"/>
          </a:xfrm>
          <a:prstGeom prst="ellipse">
            <a:avLst/>
          </a:prstGeom>
          <a:solidFill>
            <a:srgbClr val="3E7CF6"/>
          </a:solidFill>
          <a:ln/>
        </p:spPr>
      </p:sp>
      <p:sp>
        <p:nvSpPr>
          <p:cNvPr id="12" name="Text 10"/>
          <p:cNvSpPr/>
          <p:nvPr/>
        </p:nvSpPr>
        <p:spPr>
          <a:xfrm>
            <a:off x="8503920" y="2852928"/>
            <a:ext cx="2926080" cy="27432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HashMap</a:t>
            </a:r>
            <a:endParaRPr lang="en-US" sz="1350" dirty="0"/>
          </a:p>
        </p:txBody>
      </p:sp>
      <p:sp>
        <p:nvSpPr>
          <p:cNvPr id="13" name="Text 11"/>
          <p:cNvSpPr/>
          <p:nvPr/>
        </p:nvSpPr>
        <p:spPr>
          <a:xfrm>
            <a:off x="8503920" y="3108960"/>
            <a:ext cx="2926080" cy="274320"/>
          </a:xfrm>
          <a:prstGeom prst="rect">
            <a:avLst/>
          </a:prstGeom>
          <a:noFill/>
          <a:ln/>
        </p:spPr>
        <p:txBody>
          <a:bodyPr wrap="square" rtlCol="0" anchor="ctr"/>
          <a:lstStyle/>
          <a:p>
            <a:pPr indent="0" marL="0">
              <a:buNone/>
            </a:pPr>
            <a:r>
              <a:rPr lang="en-US" sz="1100" dirty="0">
                <a:solidFill>
                  <a:srgbClr val="F7F5FC"/>
                </a:solidFill>
                <a:latin typeface="Calibri" pitchFamily="34" charset="0"/>
                <a:ea typeface="Calibri" pitchFamily="34" charset="-122"/>
                <a:cs typeface="Calibri" pitchFamily="34" charset="-120"/>
              </a:rPr>
              <a:t>Fast complaint retrieval</a:t>
            </a:r>
            <a:endParaRPr lang="en-US" sz="1100" dirty="0"/>
          </a:p>
        </p:txBody>
      </p:sp>
      <p:sp>
        <p:nvSpPr>
          <p:cNvPr id="14" name="Shape 12"/>
          <p:cNvSpPr/>
          <p:nvPr/>
        </p:nvSpPr>
        <p:spPr>
          <a:xfrm>
            <a:off x="8229600" y="3785616"/>
            <a:ext cx="128016" cy="128016"/>
          </a:xfrm>
          <a:prstGeom prst="ellipse">
            <a:avLst/>
          </a:prstGeom>
          <a:solidFill>
            <a:srgbClr val="3E7CF6"/>
          </a:solidFill>
          <a:ln/>
        </p:spPr>
      </p:sp>
      <p:sp>
        <p:nvSpPr>
          <p:cNvPr id="15" name="Text 13"/>
          <p:cNvSpPr/>
          <p:nvPr/>
        </p:nvSpPr>
        <p:spPr>
          <a:xfrm>
            <a:off x="8503920" y="3630168"/>
            <a:ext cx="2926080" cy="27432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Queue</a:t>
            </a:r>
            <a:endParaRPr lang="en-US" sz="1350" dirty="0"/>
          </a:p>
        </p:txBody>
      </p:sp>
      <p:sp>
        <p:nvSpPr>
          <p:cNvPr id="16" name="Text 14"/>
          <p:cNvSpPr/>
          <p:nvPr/>
        </p:nvSpPr>
        <p:spPr>
          <a:xfrm>
            <a:off x="8503920" y="3886200"/>
            <a:ext cx="2926080" cy="274320"/>
          </a:xfrm>
          <a:prstGeom prst="rect">
            <a:avLst/>
          </a:prstGeom>
          <a:noFill/>
          <a:ln/>
        </p:spPr>
        <p:txBody>
          <a:bodyPr wrap="square" rtlCol="0" anchor="ctr"/>
          <a:lstStyle/>
          <a:p>
            <a:pPr indent="0" marL="0">
              <a:buNone/>
            </a:pPr>
            <a:r>
              <a:rPr lang="en-US" sz="1100" dirty="0">
                <a:solidFill>
                  <a:srgbClr val="F7F5FC"/>
                </a:solidFill>
                <a:latin typeface="Calibri" pitchFamily="34" charset="0"/>
                <a:ea typeface="Calibri" pitchFamily="34" charset="-122"/>
                <a:cs typeface="Calibri" pitchFamily="34" charset="-120"/>
              </a:rPr>
              <a:t>Sequential processing</a:t>
            </a:r>
            <a:endParaRPr lang="en-US" sz="1100" dirty="0"/>
          </a:p>
        </p:txBody>
      </p:sp>
      <p:sp>
        <p:nvSpPr>
          <p:cNvPr id="17" name="Shape 15"/>
          <p:cNvSpPr/>
          <p:nvPr/>
        </p:nvSpPr>
        <p:spPr>
          <a:xfrm>
            <a:off x="8229600" y="4562856"/>
            <a:ext cx="128016" cy="128016"/>
          </a:xfrm>
          <a:prstGeom prst="ellipse">
            <a:avLst/>
          </a:prstGeom>
          <a:solidFill>
            <a:srgbClr val="3E7CF6"/>
          </a:solidFill>
          <a:ln/>
        </p:spPr>
      </p:sp>
      <p:sp>
        <p:nvSpPr>
          <p:cNvPr id="18" name="Text 16"/>
          <p:cNvSpPr/>
          <p:nvPr/>
        </p:nvSpPr>
        <p:spPr>
          <a:xfrm>
            <a:off x="8503920" y="4407408"/>
            <a:ext cx="2926080" cy="27432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PriorityQueue</a:t>
            </a:r>
            <a:endParaRPr lang="en-US" sz="1350" dirty="0"/>
          </a:p>
        </p:txBody>
      </p:sp>
      <p:sp>
        <p:nvSpPr>
          <p:cNvPr id="19" name="Text 17"/>
          <p:cNvSpPr/>
          <p:nvPr/>
        </p:nvSpPr>
        <p:spPr>
          <a:xfrm>
            <a:off x="8503920" y="4663440"/>
            <a:ext cx="2926080" cy="274320"/>
          </a:xfrm>
          <a:prstGeom prst="rect">
            <a:avLst/>
          </a:prstGeom>
          <a:noFill/>
          <a:ln/>
        </p:spPr>
        <p:txBody>
          <a:bodyPr wrap="square" rtlCol="0" anchor="ctr"/>
          <a:lstStyle/>
          <a:p>
            <a:pPr indent="0" marL="0">
              <a:buNone/>
            </a:pPr>
            <a:r>
              <a:rPr lang="en-US" sz="1100" dirty="0">
                <a:solidFill>
                  <a:srgbClr val="F7F5FC"/>
                </a:solidFill>
                <a:latin typeface="Calibri" pitchFamily="34" charset="0"/>
                <a:ea typeface="Calibri" pitchFamily="34" charset="-122"/>
                <a:cs typeface="Calibri" pitchFamily="34" charset="-120"/>
              </a:rPr>
              <a:t>Urgent complaint handling</a:t>
            </a:r>
            <a:endParaRPr lang="en-US" sz="1100" dirty="0"/>
          </a:p>
        </p:txBody>
      </p:sp>
      <p:sp>
        <p:nvSpPr>
          <p:cNvPr id="20" name="Shape 18"/>
          <p:cNvSpPr/>
          <p:nvPr/>
        </p:nvSpPr>
        <p:spPr>
          <a:xfrm>
            <a:off x="8229600" y="5340096"/>
            <a:ext cx="128016" cy="128016"/>
          </a:xfrm>
          <a:prstGeom prst="ellipse">
            <a:avLst/>
          </a:prstGeom>
          <a:solidFill>
            <a:srgbClr val="3E7CF6"/>
          </a:solidFill>
          <a:ln/>
        </p:spPr>
      </p:sp>
      <p:sp>
        <p:nvSpPr>
          <p:cNvPr id="21" name="Text 19"/>
          <p:cNvSpPr/>
          <p:nvPr/>
        </p:nvSpPr>
        <p:spPr>
          <a:xfrm>
            <a:off x="8503920" y="5184648"/>
            <a:ext cx="2926080" cy="27432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Sorting &amp; Searching</a:t>
            </a:r>
            <a:endParaRPr lang="en-US" sz="1350" dirty="0"/>
          </a:p>
        </p:txBody>
      </p:sp>
      <p:sp>
        <p:nvSpPr>
          <p:cNvPr id="22" name="Text 20"/>
          <p:cNvSpPr/>
          <p:nvPr/>
        </p:nvSpPr>
        <p:spPr>
          <a:xfrm>
            <a:off x="8503920" y="5440680"/>
            <a:ext cx="2926080" cy="274320"/>
          </a:xfrm>
          <a:prstGeom prst="rect">
            <a:avLst/>
          </a:prstGeom>
          <a:noFill/>
          <a:ln/>
        </p:spPr>
        <p:txBody>
          <a:bodyPr wrap="square" rtlCol="0" anchor="ctr"/>
          <a:lstStyle/>
          <a:p>
            <a:pPr indent="0" marL="0">
              <a:buNone/>
            </a:pPr>
            <a:r>
              <a:rPr lang="en-US" sz="1100" dirty="0">
                <a:solidFill>
                  <a:srgbClr val="F7F5FC"/>
                </a:solidFill>
                <a:latin typeface="Calibri" pitchFamily="34" charset="0"/>
                <a:ea typeface="Calibri" pitchFamily="34" charset="-122"/>
                <a:cs typeface="Calibri" pitchFamily="34" charset="-120"/>
              </a:rPr>
              <a:t>Efficient data management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600" b="1" dirty="0">
                <a:solidFill>
                  <a:srgbClr val="241546"/>
                </a:solidFill>
                <a:latin typeface="Cambria" pitchFamily="34" charset="0"/>
                <a:ea typeface="Cambria" pitchFamily="34" charset="-122"/>
                <a:cs typeface="Cambria" pitchFamily="34" charset="-120"/>
              </a:rPr>
              <a:t>Problem Statement</a:t>
            </a:r>
            <a:endParaRPr lang="en-US" sz="3600" dirty="0"/>
          </a:p>
        </p:txBody>
      </p:sp>
      <p:sp>
        <p:nvSpPr>
          <p:cNvPr id="3" name="Text 1"/>
          <p:cNvSpPr/>
          <p:nvPr/>
        </p:nvSpPr>
        <p:spPr>
          <a:xfrm>
            <a:off x="640080" y="1280160"/>
            <a:ext cx="10789920" cy="1280160"/>
          </a:xfrm>
          <a:prstGeom prst="rect">
            <a:avLst/>
          </a:prstGeom>
          <a:noFill/>
          <a:ln/>
        </p:spPr>
        <p:txBody>
          <a:bodyPr wrap="square" rtlCol="0" anchor="ctr"/>
          <a:lstStyle/>
          <a:p>
            <a:pPr indent="0" marL="0">
              <a:lnSpc>
                <a:spcPct val="130000"/>
              </a:lnSpc>
              <a:buNone/>
            </a:pPr>
            <a:r>
              <a:rPr lang="en-US" sz="1600" dirty="0">
                <a:solidFill>
                  <a:srgbClr val="241546"/>
                </a:solidFill>
                <a:latin typeface="Calibri" pitchFamily="34" charset="0"/>
                <a:ea typeface="Calibri" pitchFamily="34" charset="-122"/>
                <a:cs typeface="Calibri" pitchFamily="34" charset="-120"/>
              </a:rPr>
              <a:t>Organizations receive numerous customer complaints every day, making manual complaint management time-consuming and error-prone. As the number of complaints grows, searching, updating, and tracking records manually becomes increasingly difficult, delaying resolution and reducing service quality.</a:t>
            </a:r>
            <a:endParaRPr lang="en-US" sz="1600" dirty="0"/>
          </a:p>
        </p:txBody>
      </p:sp>
      <p:sp>
        <p:nvSpPr>
          <p:cNvPr id="4" name="Shape 2"/>
          <p:cNvSpPr/>
          <p:nvPr/>
        </p:nvSpPr>
        <p:spPr>
          <a:xfrm>
            <a:off x="640080" y="2788920"/>
            <a:ext cx="10789920" cy="1554480"/>
          </a:xfrm>
          <a:prstGeom prst="roundRect">
            <a:avLst>
              <a:gd name="adj" fmla="val 7059"/>
            </a:avLst>
          </a:prstGeom>
          <a:solidFill>
            <a:srgbClr val="F7F5FC"/>
          </a:solidFill>
          <a:ln/>
        </p:spPr>
      </p:sp>
      <p:sp>
        <p:nvSpPr>
          <p:cNvPr id="5" name="Text 3"/>
          <p:cNvSpPr/>
          <p:nvPr/>
        </p:nvSpPr>
        <p:spPr>
          <a:xfrm>
            <a:off x="960120" y="3017520"/>
            <a:ext cx="10149840" cy="1143000"/>
          </a:xfrm>
          <a:prstGeom prst="rect">
            <a:avLst/>
          </a:prstGeom>
          <a:noFill/>
          <a:ln/>
        </p:spPr>
        <p:txBody>
          <a:bodyPr wrap="square" rtlCol="0" anchor="t"/>
          <a:lstStyle/>
          <a:p>
            <a:pPr indent="0" marL="0">
              <a:lnSpc>
                <a:spcPct val="130000"/>
              </a:lnSpc>
              <a:buNone/>
            </a:pPr>
            <a:r>
              <a:rPr lang="en-US" sz="1600" b="1" dirty="0">
                <a:solidFill>
                  <a:srgbClr val="6C3EC7"/>
                </a:solidFill>
                <a:latin typeface="Calibri" pitchFamily="34" charset="0"/>
                <a:ea typeface="Calibri" pitchFamily="34" charset="-122"/>
                <a:cs typeface="Calibri" pitchFamily="34" charset="-120"/>
              </a:rPr>
              <a:t>The Solution:  </a:t>
            </a:r>
            <a:pPr indent="0" marL="0">
              <a:lnSpc>
                <a:spcPct val="130000"/>
              </a:lnSpc>
              <a:buNone/>
            </a:pPr>
            <a:r>
              <a:rPr lang="en-US" sz="1500" dirty="0">
                <a:solidFill>
                  <a:srgbClr val="241546"/>
                </a:solidFill>
                <a:latin typeface="Calibri" pitchFamily="34" charset="0"/>
                <a:ea typeface="Calibri" pitchFamily="34" charset="-122"/>
                <a:cs typeface="Calibri" pitchFamily="34" charset="-120"/>
              </a:rPr>
              <a:t>The proposed Complaint Tracker System uses Java and Data Structures to efficiently store, search, prioritize, and manage complaints — ensuring faster processing and better organization than manual methods.</a:t>
            </a:r>
            <a:endParaRPr lang="en-US" sz="1600" dirty="0"/>
          </a:p>
        </p:txBody>
      </p:sp>
      <p:sp>
        <p:nvSpPr>
          <p:cNvPr id="6" name="Shape 4"/>
          <p:cNvSpPr/>
          <p:nvPr/>
        </p:nvSpPr>
        <p:spPr>
          <a:xfrm>
            <a:off x="640080" y="4617720"/>
            <a:ext cx="3429000" cy="1737360"/>
          </a:xfrm>
          <a:prstGeom prst="roundRect">
            <a:avLst>
              <a:gd name="adj" fmla="val 5263"/>
            </a:avLst>
          </a:prstGeom>
          <a:solidFill>
            <a:srgbClr val="F7F5FC"/>
          </a:solidFill>
          <a:ln/>
        </p:spPr>
      </p:sp>
      <p:sp>
        <p:nvSpPr>
          <p:cNvPr id="7" name="Shape 5"/>
          <p:cNvSpPr/>
          <p:nvPr/>
        </p:nvSpPr>
        <p:spPr>
          <a:xfrm>
            <a:off x="868680" y="4846320"/>
            <a:ext cx="502920" cy="502920"/>
          </a:xfrm>
          <a:prstGeom prst="ellipse">
            <a:avLst/>
          </a:prstGeom>
          <a:solidFill>
            <a:srgbClr val="6C3EC7"/>
          </a:solidFill>
          <a:ln/>
        </p:spPr>
      </p:sp>
      <p:sp>
        <p:nvSpPr>
          <p:cNvPr id="8" name="Text 6"/>
          <p:cNvSpPr/>
          <p:nvPr/>
        </p:nvSpPr>
        <p:spPr>
          <a:xfrm>
            <a:off x="868680" y="484632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9" name="Text 7"/>
          <p:cNvSpPr/>
          <p:nvPr/>
        </p:nvSpPr>
        <p:spPr>
          <a:xfrm>
            <a:off x="1508760" y="4818888"/>
            <a:ext cx="2377440" cy="502920"/>
          </a:xfrm>
          <a:prstGeom prst="rect">
            <a:avLst/>
          </a:prstGeom>
          <a:noFill/>
          <a:ln/>
        </p:spPr>
        <p:txBody>
          <a:bodyPr wrap="square" rtlCol="0" anchor="t"/>
          <a:lstStyle/>
          <a:p>
            <a:pPr indent="0" marL="0">
              <a:buNone/>
            </a:pPr>
            <a:r>
              <a:rPr lang="en-US" sz="1400" b="1" dirty="0">
                <a:solidFill>
                  <a:srgbClr val="241546"/>
                </a:solidFill>
                <a:latin typeface="Calibri" pitchFamily="34" charset="0"/>
                <a:ea typeface="Calibri" pitchFamily="34" charset="-122"/>
                <a:cs typeface="Calibri" pitchFamily="34" charset="-120"/>
              </a:rPr>
              <a:t>Growing Volume</a:t>
            </a:r>
            <a:endParaRPr lang="en-US" sz="1400" dirty="0"/>
          </a:p>
        </p:txBody>
      </p:sp>
      <p:sp>
        <p:nvSpPr>
          <p:cNvPr id="10" name="Text 8"/>
          <p:cNvSpPr/>
          <p:nvPr/>
        </p:nvSpPr>
        <p:spPr>
          <a:xfrm>
            <a:off x="868680" y="5486400"/>
            <a:ext cx="2971800" cy="777240"/>
          </a:xfrm>
          <a:prstGeom prst="rect">
            <a:avLst/>
          </a:prstGeom>
          <a:noFill/>
          <a:ln/>
        </p:spPr>
        <p:txBody>
          <a:bodyPr wrap="square" rtlCol="0" anchor="t"/>
          <a:lstStyle/>
          <a:p>
            <a:pPr indent="0" marL="0">
              <a:lnSpc>
                <a:spcPct val="120000"/>
              </a:lnSpc>
              <a:buNone/>
            </a:pPr>
            <a:r>
              <a:rPr lang="en-US" sz="1150" dirty="0">
                <a:solidFill>
                  <a:srgbClr val="7A6C99"/>
                </a:solidFill>
                <a:latin typeface="Calibri" pitchFamily="34" charset="0"/>
                <a:ea typeface="Calibri" pitchFamily="34" charset="-122"/>
                <a:cs typeface="Calibri" pitchFamily="34" charset="-120"/>
              </a:rPr>
              <a:t>Daily complaints pile up faster than they can be manually tracked.</a:t>
            </a:r>
            <a:endParaRPr lang="en-US" sz="1150" dirty="0"/>
          </a:p>
        </p:txBody>
      </p:sp>
      <p:sp>
        <p:nvSpPr>
          <p:cNvPr id="11" name="Shape 9"/>
          <p:cNvSpPr/>
          <p:nvPr/>
        </p:nvSpPr>
        <p:spPr>
          <a:xfrm>
            <a:off x="4325112" y="4617720"/>
            <a:ext cx="3429000" cy="1737360"/>
          </a:xfrm>
          <a:prstGeom prst="roundRect">
            <a:avLst>
              <a:gd name="adj" fmla="val 5263"/>
            </a:avLst>
          </a:prstGeom>
          <a:solidFill>
            <a:srgbClr val="F7F5FC"/>
          </a:solidFill>
          <a:ln/>
        </p:spPr>
      </p:sp>
      <p:sp>
        <p:nvSpPr>
          <p:cNvPr id="12" name="Shape 10"/>
          <p:cNvSpPr/>
          <p:nvPr/>
        </p:nvSpPr>
        <p:spPr>
          <a:xfrm>
            <a:off x="4553712" y="4846320"/>
            <a:ext cx="502920" cy="502920"/>
          </a:xfrm>
          <a:prstGeom prst="ellipse">
            <a:avLst/>
          </a:prstGeom>
          <a:solidFill>
            <a:srgbClr val="3E7CF6"/>
          </a:solidFill>
          <a:ln/>
        </p:spPr>
      </p:sp>
      <p:sp>
        <p:nvSpPr>
          <p:cNvPr id="13" name="Text 11"/>
          <p:cNvSpPr/>
          <p:nvPr/>
        </p:nvSpPr>
        <p:spPr>
          <a:xfrm>
            <a:off x="4553712" y="484632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4" name="Text 12"/>
          <p:cNvSpPr/>
          <p:nvPr/>
        </p:nvSpPr>
        <p:spPr>
          <a:xfrm>
            <a:off x="5193792" y="4818888"/>
            <a:ext cx="2377440" cy="502920"/>
          </a:xfrm>
          <a:prstGeom prst="rect">
            <a:avLst/>
          </a:prstGeom>
          <a:noFill/>
          <a:ln/>
        </p:spPr>
        <p:txBody>
          <a:bodyPr wrap="square" rtlCol="0" anchor="t"/>
          <a:lstStyle/>
          <a:p>
            <a:pPr indent="0" marL="0">
              <a:buNone/>
            </a:pPr>
            <a:r>
              <a:rPr lang="en-US" sz="1400" b="1" dirty="0">
                <a:solidFill>
                  <a:srgbClr val="241546"/>
                </a:solidFill>
                <a:latin typeface="Calibri" pitchFamily="34" charset="0"/>
                <a:ea typeface="Calibri" pitchFamily="34" charset="-122"/>
                <a:cs typeface="Calibri" pitchFamily="34" charset="-120"/>
              </a:rPr>
              <a:t>Slow Retrieval</a:t>
            </a:r>
            <a:endParaRPr lang="en-US" sz="1400" dirty="0"/>
          </a:p>
        </p:txBody>
      </p:sp>
      <p:sp>
        <p:nvSpPr>
          <p:cNvPr id="15" name="Text 13"/>
          <p:cNvSpPr/>
          <p:nvPr/>
        </p:nvSpPr>
        <p:spPr>
          <a:xfrm>
            <a:off x="4553712" y="5486400"/>
            <a:ext cx="2971800" cy="777240"/>
          </a:xfrm>
          <a:prstGeom prst="rect">
            <a:avLst/>
          </a:prstGeom>
          <a:noFill/>
          <a:ln/>
        </p:spPr>
        <p:txBody>
          <a:bodyPr wrap="square" rtlCol="0" anchor="t"/>
          <a:lstStyle/>
          <a:p>
            <a:pPr indent="0" marL="0">
              <a:lnSpc>
                <a:spcPct val="120000"/>
              </a:lnSpc>
              <a:buNone/>
            </a:pPr>
            <a:r>
              <a:rPr lang="en-US" sz="1150" dirty="0">
                <a:solidFill>
                  <a:srgbClr val="7A6C99"/>
                </a:solidFill>
                <a:latin typeface="Calibri" pitchFamily="34" charset="0"/>
                <a:ea typeface="Calibri" pitchFamily="34" charset="-122"/>
                <a:cs typeface="Calibri" pitchFamily="34" charset="-120"/>
              </a:rPr>
              <a:t>Finding a specific complaint record takes too much time.</a:t>
            </a:r>
            <a:endParaRPr lang="en-US" sz="1150" dirty="0"/>
          </a:p>
        </p:txBody>
      </p:sp>
      <p:sp>
        <p:nvSpPr>
          <p:cNvPr id="16" name="Shape 14"/>
          <p:cNvSpPr/>
          <p:nvPr/>
        </p:nvSpPr>
        <p:spPr>
          <a:xfrm>
            <a:off x="8010144" y="4617720"/>
            <a:ext cx="3429000" cy="1737360"/>
          </a:xfrm>
          <a:prstGeom prst="roundRect">
            <a:avLst>
              <a:gd name="adj" fmla="val 5263"/>
            </a:avLst>
          </a:prstGeom>
          <a:solidFill>
            <a:srgbClr val="F7F5FC"/>
          </a:solidFill>
          <a:ln/>
        </p:spPr>
      </p:sp>
      <p:sp>
        <p:nvSpPr>
          <p:cNvPr id="17" name="Shape 15"/>
          <p:cNvSpPr/>
          <p:nvPr/>
        </p:nvSpPr>
        <p:spPr>
          <a:xfrm>
            <a:off x="8238744" y="4846320"/>
            <a:ext cx="502920" cy="502920"/>
          </a:xfrm>
          <a:prstGeom prst="ellipse">
            <a:avLst/>
          </a:prstGeom>
          <a:solidFill>
            <a:srgbClr val="F14FA7"/>
          </a:solidFill>
          <a:ln/>
        </p:spPr>
      </p:sp>
      <p:sp>
        <p:nvSpPr>
          <p:cNvPr id="18" name="Text 16"/>
          <p:cNvSpPr/>
          <p:nvPr/>
        </p:nvSpPr>
        <p:spPr>
          <a:xfrm>
            <a:off x="8238744" y="484632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9" name="Text 17"/>
          <p:cNvSpPr/>
          <p:nvPr/>
        </p:nvSpPr>
        <p:spPr>
          <a:xfrm>
            <a:off x="8878824" y="4818888"/>
            <a:ext cx="2377440" cy="502920"/>
          </a:xfrm>
          <a:prstGeom prst="rect">
            <a:avLst/>
          </a:prstGeom>
          <a:noFill/>
          <a:ln/>
        </p:spPr>
        <p:txBody>
          <a:bodyPr wrap="square" rtlCol="0" anchor="t"/>
          <a:lstStyle/>
          <a:p>
            <a:pPr indent="0" marL="0">
              <a:buNone/>
            </a:pPr>
            <a:r>
              <a:rPr lang="en-US" sz="1400" b="1" dirty="0">
                <a:solidFill>
                  <a:srgbClr val="241546"/>
                </a:solidFill>
                <a:latin typeface="Calibri" pitchFamily="34" charset="0"/>
                <a:ea typeface="Calibri" pitchFamily="34" charset="-122"/>
                <a:cs typeface="Calibri" pitchFamily="34" charset="-120"/>
              </a:rPr>
              <a:t>No Prioritization</a:t>
            </a:r>
            <a:endParaRPr lang="en-US" sz="1400" dirty="0"/>
          </a:p>
        </p:txBody>
      </p:sp>
      <p:sp>
        <p:nvSpPr>
          <p:cNvPr id="20" name="Text 18"/>
          <p:cNvSpPr/>
          <p:nvPr/>
        </p:nvSpPr>
        <p:spPr>
          <a:xfrm>
            <a:off x="8238744" y="5486400"/>
            <a:ext cx="2971800" cy="777240"/>
          </a:xfrm>
          <a:prstGeom prst="rect">
            <a:avLst/>
          </a:prstGeom>
          <a:noFill/>
          <a:ln/>
        </p:spPr>
        <p:txBody>
          <a:bodyPr wrap="square" rtlCol="0" anchor="t"/>
          <a:lstStyle/>
          <a:p>
            <a:pPr indent="0" marL="0">
              <a:lnSpc>
                <a:spcPct val="120000"/>
              </a:lnSpc>
              <a:buNone/>
            </a:pPr>
            <a:r>
              <a:rPr lang="en-US" sz="1150" dirty="0">
                <a:solidFill>
                  <a:srgbClr val="7A6C99"/>
                </a:solidFill>
                <a:latin typeface="Calibri" pitchFamily="34" charset="0"/>
                <a:ea typeface="Calibri" pitchFamily="34" charset="-122"/>
                <a:cs typeface="Calibri" pitchFamily="34" charset="-120"/>
              </a:rPr>
              <a:t>Urgent complaints get treated the same as minor ones.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640080" y="411480"/>
            <a:ext cx="8229600" cy="594360"/>
          </a:xfrm>
          <a:prstGeom prst="rect">
            <a:avLst/>
          </a:prstGeom>
          <a:noFill/>
          <a:ln/>
        </p:spPr>
        <p:txBody>
          <a:bodyPr wrap="square" rtlCol="0" anchor="ctr"/>
          <a:lstStyle/>
          <a:p>
            <a:pPr indent="0" marL="0">
              <a:buNone/>
            </a:pPr>
            <a:r>
              <a:rPr lang="en-US" sz="3400" b="1" dirty="0">
                <a:solidFill>
                  <a:srgbClr val="241546"/>
                </a:solidFill>
                <a:latin typeface="Cambria" pitchFamily="34" charset="0"/>
                <a:ea typeface="Cambria" pitchFamily="34" charset="-122"/>
                <a:cs typeface="Cambria" pitchFamily="34" charset="-120"/>
              </a:rPr>
              <a:t>Proposed Functionalities</a:t>
            </a:r>
            <a:endParaRPr lang="en-US" sz="3400" dirty="0"/>
          </a:p>
        </p:txBody>
      </p:sp>
      <p:sp>
        <p:nvSpPr>
          <p:cNvPr id="3" name="Shape 1"/>
          <p:cNvSpPr/>
          <p:nvPr/>
        </p:nvSpPr>
        <p:spPr>
          <a:xfrm>
            <a:off x="640080" y="1188720"/>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4" name="Shape 2"/>
          <p:cNvSpPr/>
          <p:nvPr/>
        </p:nvSpPr>
        <p:spPr>
          <a:xfrm>
            <a:off x="841248" y="1389888"/>
            <a:ext cx="420624" cy="420624"/>
          </a:xfrm>
          <a:prstGeom prst="ellipse">
            <a:avLst/>
          </a:prstGeom>
          <a:solidFill>
            <a:srgbClr val="6C3EC7"/>
          </a:solidFill>
          <a:ln/>
        </p:spPr>
      </p:sp>
      <p:sp>
        <p:nvSpPr>
          <p:cNvPr id="5" name="Text 3"/>
          <p:cNvSpPr/>
          <p:nvPr/>
        </p:nvSpPr>
        <p:spPr>
          <a:xfrm>
            <a:off x="841248" y="1389888"/>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1</a:t>
            </a:r>
            <a:endParaRPr lang="en-US" sz="1012" dirty="0"/>
          </a:p>
        </p:txBody>
      </p:sp>
      <p:sp>
        <p:nvSpPr>
          <p:cNvPr id="6" name="Text 4"/>
          <p:cNvSpPr/>
          <p:nvPr/>
        </p:nvSpPr>
        <p:spPr>
          <a:xfrm>
            <a:off x="1417320" y="1325880"/>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User registration and login</a:t>
            </a:r>
            <a:endParaRPr lang="en-US" sz="1250" dirty="0"/>
          </a:p>
        </p:txBody>
      </p:sp>
      <p:sp>
        <p:nvSpPr>
          <p:cNvPr id="7" name="Shape 5"/>
          <p:cNvSpPr/>
          <p:nvPr/>
        </p:nvSpPr>
        <p:spPr>
          <a:xfrm>
            <a:off x="4389120" y="1188720"/>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8" name="Shape 6"/>
          <p:cNvSpPr/>
          <p:nvPr/>
        </p:nvSpPr>
        <p:spPr>
          <a:xfrm>
            <a:off x="4590288" y="1389888"/>
            <a:ext cx="420624" cy="420624"/>
          </a:xfrm>
          <a:prstGeom prst="ellipse">
            <a:avLst/>
          </a:prstGeom>
          <a:solidFill>
            <a:srgbClr val="6C3EC7"/>
          </a:solidFill>
          <a:ln/>
        </p:spPr>
      </p:sp>
      <p:sp>
        <p:nvSpPr>
          <p:cNvPr id="9" name="Text 7"/>
          <p:cNvSpPr/>
          <p:nvPr/>
        </p:nvSpPr>
        <p:spPr>
          <a:xfrm>
            <a:off x="4590288" y="1389888"/>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2</a:t>
            </a:r>
            <a:endParaRPr lang="en-US" sz="1012" dirty="0"/>
          </a:p>
        </p:txBody>
      </p:sp>
      <p:sp>
        <p:nvSpPr>
          <p:cNvPr id="10" name="Text 8"/>
          <p:cNvSpPr/>
          <p:nvPr/>
        </p:nvSpPr>
        <p:spPr>
          <a:xfrm>
            <a:off x="5166360" y="1325880"/>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Register new complaints with relevant details</a:t>
            </a:r>
            <a:endParaRPr lang="en-US" sz="1250" dirty="0"/>
          </a:p>
        </p:txBody>
      </p:sp>
      <p:sp>
        <p:nvSpPr>
          <p:cNvPr id="11" name="Shape 9"/>
          <p:cNvSpPr/>
          <p:nvPr/>
        </p:nvSpPr>
        <p:spPr>
          <a:xfrm>
            <a:off x="8138160" y="1188720"/>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12" name="Shape 10"/>
          <p:cNvSpPr/>
          <p:nvPr/>
        </p:nvSpPr>
        <p:spPr>
          <a:xfrm>
            <a:off x="8339328" y="1389888"/>
            <a:ext cx="420624" cy="420624"/>
          </a:xfrm>
          <a:prstGeom prst="ellipse">
            <a:avLst/>
          </a:prstGeom>
          <a:solidFill>
            <a:srgbClr val="6C3EC7"/>
          </a:solidFill>
          <a:ln/>
        </p:spPr>
      </p:sp>
      <p:sp>
        <p:nvSpPr>
          <p:cNvPr id="13" name="Text 11"/>
          <p:cNvSpPr/>
          <p:nvPr/>
        </p:nvSpPr>
        <p:spPr>
          <a:xfrm>
            <a:off x="8339328" y="1389888"/>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3</a:t>
            </a:r>
            <a:endParaRPr lang="en-US" sz="1012" dirty="0"/>
          </a:p>
        </p:txBody>
      </p:sp>
      <p:sp>
        <p:nvSpPr>
          <p:cNvPr id="14" name="Text 12"/>
          <p:cNvSpPr/>
          <p:nvPr/>
        </p:nvSpPr>
        <p:spPr>
          <a:xfrm>
            <a:off x="8915400" y="1325880"/>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View and track complaint status</a:t>
            </a:r>
            <a:endParaRPr lang="en-US" sz="1250" dirty="0"/>
          </a:p>
        </p:txBody>
      </p:sp>
      <p:sp>
        <p:nvSpPr>
          <p:cNvPr id="15" name="Shape 13"/>
          <p:cNvSpPr/>
          <p:nvPr/>
        </p:nvSpPr>
        <p:spPr>
          <a:xfrm>
            <a:off x="640080" y="2898648"/>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16" name="Shape 14"/>
          <p:cNvSpPr/>
          <p:nvPr/>
        </p:nvSpPr>
        <p:spPr>
          <a:xfrm>
            <a:off x="841248" y="3099816"/>
            <a:ext cx="420624" cy="420624"/>
          </a:xfrm>
          <a:prstGeom prst="ellipse">
            <a:avLst/>
          </a:prstGeom>
          <a:solidFill>
            <a:srgbClr val="3E7CF6"/>
          </a:solidFill>
          <a:ln/>
        </p:spPr>
      </p:sp>
      <p:sp>
        <p:nvSpPr>
          <p:cNvPr id="17" name="Text 15"/>
          <p:cNvSpPr/>
          <p:nvPr/>
        </p:nvSpPr>
        <p:spPr>
          <a:xfrm>
            <a:off x="841248" y="3099816"/>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4</a:t>
            </a:r>
            <a:endParaRPr lang="en-US" sz="1012" dirty="0"/>
          </a:p>
        </p:txBody>
      </p:sp>
      <p:sp>
        <p:nvSpPr>
          <p:cNvPr id="18" name="Text 16"/>
          <p:cNvSpPr/>
          <p:nvPr/>
        </p:nvSpPr>
        <p:spPr>
          <a:xfrm>
            <a:off x="1417320" y="3035808"/>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Search complaints by Complaint ID or Customer Name</a:t>
            </a:r>
            <a:endParaRPr lang="en-US" sz="1250" dirty="0"/>
          </a:p>
        </p:txBody>
      </p:sp>
      <p:sp>
        <p:nvSpPr>
          <p:cNvPr id="19" name="Shape 17"/>
          <p:cNvSpPr/>
          <p:nvPr/>
        </p:nvSpPr>
        <p:spPr>
          <a:xfrm>
            <a:off x="4389120" y="2898648"/>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20" name="Shape 18"/>
          <p:cNvSpPr/>
          <p:nvPr/>
        </p:nvSpPr>
        <p:spPr>
          <a:xfrm>
            <a:off x="4590288" y="3099816"/>
            <a:ext cx="420624" cy="420624"/>
          </a:xfrm>
          <a:prstGeom prst="ellipse">
            <a:avLst/>
          </a:prstGeom>
          <a:solidFill>
            <a:srgbClr val="3E7CF6"/>
          </a:solidFill>
          <a:ln/>
        </p:spPr>
      </p:sp>
      <p:sp>
        <p:nvSpPr>
          <p:cNvPr id="21" name="Text 19"/>
          <p:cNvSpPr/>
          <p:nvPr/>
        </p:nvSpPr>
        <p:spPr>
          <a:xfrm>
            <a:off x="4590288" y="3099816"/>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5</a:t>
            </a:r>
            <a:endParaRPr lang="en-US" sz="1012" dirty="0"/>
          </a:p>
        </p:txBody>
      </p:sp>
      <p:sp>
        <p:nvSpPr>
          <p:cNvPr id="22" name="Text 20"/>
          <p:cNvSpPr/>
          <p:nvPr/>
        </p:nvSpPr>
        <p:spPr>
          <a:xfrm>
            <a:off x="5166360" y="3035808"/>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Update complaint details and status</a:t>
            </a:r>
            <a:endParaRPr lang="en-US" sz="1250" dirty="0"/>
          </a:p>
        </p:txBody>
      </p:sp>
      <p:sp>
        <p:nvSpPr>
          <p:cNvPr id="23" name="Shape 21"/>
          <p:cNvSpPr/>
          <p:nvPr/>
        </p:nvSpPr>
        <p:spPr>
          <a:xfrm>
            <a:off x="8138160" y="2898648"/>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24" name="Shape 22"/>
          <p:cNvSpPr/>
          <p:nvPr/>
        </p:nvSpPr>
        <p:spPr>
          <a:xfrm>
            <a:off x="8339328" y="3099816"/>
            <a:ext cx="420624" cy="420624"/>
          </a:xfrm>
          <a:prstGeom prst="ellipse">
            <a:avLst/>
          </a:prstGeom>
          <a:solidFill>
            <a:srgbClr val="3E7CF6"/>
          </a:solidFill>
          <a:ln/>
        </p:spPr>
      </p:sp>
      <p:sp>
        <p:nvSpPr>
          <p:cNvPr id="25" name="Text 23"/>
          <p:cNvSpPr/>
          <p:nvPr/>
        </p:nvSpPr>
        <p:spPr>
          <a:xfrm>
            <a:off x="8339328" y="3099816"/>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6</a:t>
            </a:r>
            <a:endParaRPr lang="en-US" sz="1012" dirty="0"/>
          </a:p>
        </p:txBody>
      </p:sp>
      <p:sp>
        <p:nvSpPr>
          <p:cNvPr id="26" name="Text 24"/>
          <p:cNvSpPr/>
          <p:nvPr/>
        </p:nvSpPr>
        <p:spPr>
          <a:xfrm>
            <a:off x="8915400" y="3035808"/>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Delete resolved or invalid complaints</a:t>
            </a:r>
            <a:endParaRPr lang="en-US" sz="1250" dirty="0"/>
          </a:p>
        </p:txBody>
      </p:sp>
      <p:sp>
        <p:nvSpPr>
          <p:cNvPr id="27" name="Shape 25"/>
          <p:cNvSpPr/>
          <p:nvPr/>
        </p:nvSpPr>
        <p:spPr>
          <a:xfrm>
            <a:off x="640080" y="4608576"/>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28" name="Shape 26"/>
          <p:cNvSpPr/>
          <p:nvPr/>
        </p:nvSpPr>
        <p:spPr>
          <a:xfrm>
            <a:off x="841248" y="4809744"/>
            <a:ext cx="420624" cy="420624"/>
          </a:xfrm>
          <a:prstGeom prst="ellipse">
            <a:avLst/>
          </a:prstGeom>
          <a:solidFill>
            <a:srgbClr val="F14FA7"/>
          </a:solidFill>
          <a:ln/>
        </p:spPr>
      </p:sp>
      <p:sp>
        <p:nvSpPr>
          <p:cNvPr id="29" name="Text 27"/>
          <p:cNvSpPr/>
          <p:nvPr/>
        </p:nvSpPr>
        <p:spPr>
          <a:xfrm>
            <a:off x="841248" y="4809744"/>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7</a:t>
            </a:r>
            <a:endParaRPr lang="en-US" sz="1012" dirty="0"/>
          </a:p>
        </p:txBody>
      </p:sp>
      <p:sp>
        <p:nvSpPr>
          <p:cNvPr id="30" name="Text 28"/>
          <p:cNvSpPr/>
          <p:nvPr/>
        </p:nvSpPr>
        <p:spPr>
          <a:xfrm>
            <a:off x="1417320" y="4745736"/>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Prioritize urgent complaints using a Priority Queue</a:t>
            </a:r>
            <a:endParaRPr lang="en-US" sz="1250" dirty="0"/>
          </a:p>
        </p:txBody>
      </p:sp>
      <p:sp>
        <p:nvSpPr>
          <p:cNvPr id="31" name="Shape 29"/>
          <p:cNvSpPr/>
          <p:nvPr/>
        </p:nvSpPr>
        <p:spPr>
          <a:xfrm>
            <a:off x="4389120" y="4608576"/>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32" name="Shape 30"/>
          <p:cNvSpPr/>
          <p:nvPr/>
        </p:nvSpPr>
        <p:spPr>
          <a:xfrm>
            <a:off x="4590288" y="4809744"/>
            <a:ext cx="420624" cy="420624"/>
          </a:xfrm>
          <a:prstGeom prst="ellipse">
            <a:avLst/>
          </a:prstGeom>
          <a:solidFill>
            <a:srgbClr val="F14FA7"/>
          </a:solidFill>
          <a:ln/>
        </p:spPr>
      </p:sp>
      <p:sp>
        <p:nvSpPr>
          <p:cNvPr id="33" name="Text 31"/>
          <p:cNvSpPr/>
          <p:nvPr/>
        </p:nvSpPr>
        <p:spPr>
          <a:xfrm>
            <a:off x="4590288" y="4809744"/>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8</a:t>
            </a:r>
            <a:endParaRPr lang="en-US" sz="1012" dirty="0"/>
          </a:p>
        </p:txBody>
      </p:sp>
      <p:sp>
        <p:nvSpPr>
          <p:cNvPr id="34" name="Text 32"/>
          <p:cNvSpPr/>
          <p:nvPr/>
        </p:nvSpPr>
        <p:spPr>
          <a:xfrm>
            <a:off x="5166360" y="4745736"/>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Sort complaints by ID, date, or priority</a:t>
            </a:r>
            <a:endParaRPr lang="en-US" sz="1250" dirty="0"/>
          </a:p>
        </p:txBody>
      </p:sp>
      <p:sp>
        <p:nvSpPr>
          <p:cNvPr id="35" name="Shape 33"/>
          <p:cNvSpPr/>
          <p:nvPr/>
        </p:nvSpPr>
        <p:spPr>
          <a:xfrm>
            <a:off x="8138160" y="4608576"/>
            <a:ext cx="3520440" cy="1508760"/>
          </a:xfrm>
          <a:prstGeom prst="roundRect">
            <a:avLst>
              <a:gd name="adj" fmla="val 6061"/>
            </a:avLst>
          </a:prstGeom>
          <a:solidFill>
            <a:srgbClr val="FFFFFF"/>
          </a:solidFill>
          <a:ln/>
          <a:effectLst>
            <a:outerShdw sx="100000" sy="100000" kx="0" ky="0" algn="bl" rotWithShape="0" blurRad="63500" dist="25400" dir="5400000">
              <a:srgbClr val="8A7AB0">
                <a:alpha val="22000"/>
              </a:srgbClr>
            </a:outerShdw>
          </a:effectLst>
        </p:spPr>
      </p:sp>
      <p:sp>
        <p:nvSpPr>
          <p:cNvPr id="36" name="Shape 34"/>
          <p:cNvSpPr/>
          <p:nvPr/>
        </p:nvSpPr>
        <p:spPr>
          <a:xfrm>
            <a:off x="8339328" y="4809744"/>
            <a:ext cx="420624" cy="420624"/>
          </a:xfrm>
          <a:prstGeom prst="ellipse">
            <a:avLst/>
          </a:prstGeom>
          <a:solidFill>
            <a:srgbClr val="F14FA7"/>
          </a:solidFill>
          <a:ln/>
        </p:spPr>
      </p:sp>
      <p:sp>
        <p:nvSpPr>
          <p:cNvPr id="37" name="Text 35"/>
          <p:cNvSpPr/>
          <p:nvPr/>
        </p:nvSpPr>
        <p:spPr>
          <a:xfrm>
            <a:off x="8339328" y="4809744"/>
            <a:ext cx="420624" cy="420624"/>
          </a:xfrm>
          <a:prstGeom prst="rect">
            <a:avLst/>
          </a:prstGeom>
          <a:noFill/>
          <a:ln/>
        </p:spPr>
        <p:txBody>
          <a:bodyPr wrap="square" rtlCol="0" anchor="ctr"/>
          <a:lstStyle/>
          <a:p>
            <a:pPr algn="ctr" indent="0" marL="0">
              <a:buNone/>
            </a:pPr>
            <a:r>
              <a:rPr lang="en-US" sz="1012" b="1" dirty="0">
                <a:solidFill>
                  <a:srgbClr val="FFFFFF"/>
                </a:solidFill>
                <a:latin typeface="Calibri" pitchFamily="34" charset="0"/>
                <a:ea typeface="Calibri" pitchFamily="34" charset="-122"/>
                <a:cs typeface="Calibri" pitchFamily="34" charset="-120"/>
              </a:rPr>
              <a:t>9</a:t>
            </a:r>
            <a:endParaRPr lang="en-US" sz="1012" dirty="0"/>
          </a:p>
        </p:txBody>
      </p:sp>
      <p:sp>
        <p:nvSpPr>
          <p:cNvPr id="38" name="Text 36"/>
          <p:cNvSpPr/>
          <p:nvPr/>
        </p:nvSpPr>
        <p:spPr>
          <a:xfrm>
            <a:off x="8915400" y="4745736"/>
            <a:ext cx="2560320" cy="1234440"/>
          </a:xfrm>
          <a:prstGeom prst="rect">
            <a:avLst/>
          </a:prstGeom>
          <a:noFill/>
          <a:ln/>
        </p:spPr>
        <p:txBody>
          <a:bodyPr wrap="square" rtlCol="0" anchor="ctr"/>
          <a:lstStyle/>
          <a:p>
            <a:pPr indent="0" marL="0">
              <a:lnSpc>
                <a:spcPct val="115000"/>
              </a:lnSpc>
              <a:buNone/>
            </a:pPr>
            <a:r>
              <a:rPr lang="en-US" sz="1250" dirty="0">
                <a:solidFill>
                  <a:srgbClr val="241546"/>
                </a:solidFill>
                <a:latin typeface="Calibri" pitchFamily="34" charset="0"/>
                <a:ea typeface="Calibri" pitchFamily="34" charset="-122"/>
                <a:cs typeface="Calibri" pitchFamily="34" charset="-120"/>
              </a:rPr>
              <a:t>Generate a summary of pending and resolved complaints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C"/>
        </a:solidFill>
      </p:bgPr>
    </p:bg>
    <p:spTree>
      <p:nvGrpSpPr>
        <p:cNvPr id="1" name=""/>
        <p:cNvGrpSpPr/>
        <p:nvPr/>
      </p:nvGrpSpPr>
      <p:grpSpPr>
        <a:xfrm>
          <a:off x="0" y="0"/>
          <a:ext cx="0" cy="0"/>
          <a:chOff x="0" y="0"/>
          <a:chExt cx="0" cy="0"/>
        </a:xfrm>
      </p:grpSpPr>
      <p:pic>
        <p:nvPicPr>
          <p:cNvPr id="2" name="Image 0" descr="/home/claude/complaint_tracker/functionalities_infographic.png">    </p:cNvPr>
          <p:cNvPicPr>
            <a:picLocks noChangeAspect="1"/>
          </p:cNvPicPr>
          <p:nvPr/>
        </p:nvPicPr>
        <p:blipFill>
          <a:blip r:embed="rId1"/>
          <a:stretch>
            <a:fillRect/>
          </a:stretch>
        </p:blipFill>
        <p:spPr>
          <a:xfrm>
            <a:off x="792328" y="885230"/>
            <a:ext cx="10607040" cy="50875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600" b="1" dirty="0">
                <a:solidFill>
                  <a:srgbClr val="241546"/>
                </a:solidFill>
                <a:latin typeface="Cambria" pitchFamily="34" charset="0"/>
                <a:ea typeface="Cambria" pitchFamily="34" charset="-122"/>
                <a:cs typeface="Cambria" pitchFamily="34" charset="-120"/>
              </a:rPr>
              <a:t>How It Works</a:t>
            </a:r>
            <a:endParaRPr lang="en-US" sz="3600" dirty="0"/>
          </a:p>
        </p:txBody>
      </p:sp>
      <p:sp>
        <p:nvSpPr>
          <p:cNvPr id="3" name="Text 1"/>
          <p:cNvSpPr/>
          <p:nvPr/>
        </p:nvSpPr>
        <p:spPr>
          <a:xfrm>
            <a:off x="640080" y="1170432"/>
            <a:ext cx="9601200" cy="457200"/>
          </a:xfrm>
          <a:prstGeom prst="rect">
            <a:avLst/>
          </a:prstGeom>
          <a:noFill/>
          <a:ln/>
        </p:spPr>
        <p:txBody>
          <a:bodyPr wrap="square" rtlCol="0" anchor="ctr"/>
          <a:lstStyle/>
          <a:p>
            <a:pPr indent="0" marL="0">
              <a:buNone/>
            </a:pPr>
            <a:r>
              <a:rPr lang="en-US" sz="1500" i="1" dirty="0">
                <a:solidFill>
                  <a:srgbClr val="7A6C99"/>
                </a:solidFill>
                <a:latin typeface="Calibri" pitchFamily="34" charset="0"/>
                <a:ea typeface="Calibri" pitchFamily="34" charset="-122"/>
                <a:cs typeface="Calibri" pitchFamily="34" charset="-120"/>
              </a:rPr>
              <a:t>Complaint flow through the system, powered by core Data Structures</a:t>
            </a:r>
            <a:endParaRPr lang="en-US" sz="1500" dirty="0"/>
          </a:p>
        </p:txBody>
      </p:sp>
      <p:sp>
        <p:nvSpPr>
          <p:cNvPr id="4" name="Shape 2"/>
          <p:cNvSpPr/>
          <p:nvPr/>
        </p:nvSpPr>
        <p:spPr>
          <a:xfrm>
            <a:off x="768096" y="2377440"/>
            <a:ext cx="1874520" cy="1554480"/>
          </a:xfrm>
          <a:prstGeom prst="roundRect">
            <a:avLst>
              <a:gd name="adj" fmla="val 8235"/>
            </a:avLst>
          </a:prstGeom>
          <a:solidFill>
            <a:srgbClr val="6C3EC7"/>
          </a:solidFill>
          <a:ln/>
        </p:spPr>
      </p:sp>
      <p:sp>
        <p:nvSpPr>
          <p:cNvPr id="5" name="Text 3"/>
          <p:cNvSpPr/>
          <p:nvPr/>
        </p:nvSpPr>
        <p:spPr>
          <a:xfrm>
            <a:off x="768096" y="2542032"/>
            <a:ext cx="1874520" cy="7772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Complaint</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Submitted</a:t>
            </a:r>
            <a:endParaRPr lang="en-US" sz="1350" dirty="0"/>
          </a:p>
        </p:txBody>
      </p:sp>
      <p:sp>
        <p:nvSpPr>
          <p:cNvPr id="6" name="Text 4"/>
          <p:cNvSpPr/>
          <p:nvPr/>
        </p:nvSpPr>
        <p:spPr>
          <a:xfrm>
            <a:off x="768096" y="3337560"/>
            <a:ext cx="1874520" cy="457200"/>
          </a:xfrm>
          <a:prstGeom prst="rect">
            <a:avLst/>
          </a:prstGeom>
          <a:noFill/>
          <a:ln/>
        </p:spPr>
        <p:txBody>
          <a:bodyPr wrap="square" rtlCol="0" anchor="ctr"/>
          <a:lstStyle/>
          <a:p>
            <a:pPr algn="ctr" indent="0" marL="0">
              <a:buNone/>
            </a:pPr>
            <a:r>
              <a:rPr lang="en-US" sz="1150" i="1" dirty="0">
                <a:solidFill>
                  <a:srgbClr val="F7F5FC"/>
                </a:solidFill>
                <a:latin typeface="Calibri" pitchFamily="34" charset="0"/>
                <a:ea typeface="Calibri" pitchFamily="34" charset="-122"/>
                <a:cs typeface="Calibri" pitchFamily="34" charset="-120"/>
              </a:rPr>
              <a:t>ArrayList</a:t>
            </a:r>
            <a:endParaRPr lang="en-US" sz="1150" dirty="0"/>
          </a:p>
        </p:txBody>
      </p:sp>
      <p:sp>
        <p:nvSpPr>
          <p:cNvPr id="7" name="Text 5"/>
          <p:cNvSpPr/>
          <p:nvPr/>
        </p:nvSpPr>
        <p:spPr>
          <a:xfrm>
            <a:off x="2642616" y="2834640"/>
            <a:ext cx="320040" cy="640080"/>
          </a:xfrm>
          <a:prstGeom prst="rect">
            <a:avLst/>
          </a:prstGeom>
          <a:noFill/>
          <a:ln/>
        </p:spPr>
        <p:txBody>
          <a:bodyPr wrap="square" rtlCol="0" anchor="ctr"/>
          <a:lstStyle/>
          <a:p>
            <a:pPr algn="ctr" indent="0" marL="0">
              <a:buNone/>
            </a:pPr>
            <a:r>
              <a:rPr lang="en-US" sz="2400" b="1" dirty="0">
                <a:solidFill>
                  <a:srgbClr val="7A6C99"/>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2962656" y="2377440"/>
            <a:ext cx="1874520" cy="1554480"/>
          </a:xfrm>
          <a:prstGeom prst="roundRect">
            <a:avLst>
              <a:gd name="adj" fmla="val 8235"/>
            </a:avLst>
          </a:prstGeom>
          <a:solidFill>
            <a:srgbClr val="3E7CF6"/>
          </a:solidFill>
          <a:ln/>
        </p:spPr>
      </p:sp>
      <p:sp>
        <p:nvSpPr>
          <p:cNvPr id="9" name="Text 7"/>
          <p:cNvSpPr/>
          <p:nvPr/>
        </p:nvSpPr>
        <p:spPr>
          <a:xfrm>
            <a:off x="2962656" y="2542032"/>
            <a:ext cx="1874520" cy="7772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Stored &amp;</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Indexed</a:t>
            </a:r>
            <a:endParaRPr lang="en-US" sz="1350" dirty="0"/>
          </a:p>
        </p:txBody>
      </p:sp>
      <p:sp>
        <p:nvSpPr>
          <p:cNvPr id="10" name="Text 8"/>
          <p:cNvSpPr/>
          <p:nvPr/>
        </p:nvSpPr>
        <p:spPr>
          <a:xfrm>
            <a:off x="2962656" y="3337560"/>
            <a:ext cx="1874520" cy="457200"/>
          </a:xfrm>
          <a:prstGeom prst="rect">
            <a:avLst/>
          </a:prstGeom>
          <a:noFill/>
          <a:ln/>
        </p:spPr>
        <p:txBody>
          <a:bodyPr wrap="square" rtlCol="0" anchor="ctr"/>
          <a:lstStyle/>
          <a:p>
            <a:pPr algn="ctr" indent="0" marL="0">
              <a:buNone/>
            </a:pPr>
            <a:r>
              <a:rPr lang="en-US" sz="1150" i="1" dirty="0">
                <a:solidFill>
                  <a:srgbClr val="F7F5FC"/>
                </a:solidFill>
                <a:latin typeface="Calibri" pitchFamily="34" charset="0"/>
                <a:ea typeface="Calibri" pitchFamily="34" charset="-122"/>
                <a:cs typeface="Calibri" pitchFamily="34" charset="-120"/>
              </a:rPr>
              <a:t>HashMap</a:t>
            </a:r>
            <a:endParaRPr lang="en-US" sz="1150" dirty="0"/>
          </a:p>
        </p:txBody>
      </p:sp>
      <p:sp>
        <p:nvSpPr>
          <p:cNvPr id="11" name="Text 9"/>
          <p:cNvSpPr/>
          <p:nvPr/>
        </p:nvSpPr>
        <p:spPr>
          <a:xfrm>
            <a:off x="4837176" y="2834640"/>
            <a:ext cx="320040" cy="640080"/>
          </a:xfrm>
          <a:prstGeom prst="rect">
            <a:avLst/>
          </a:prstGeom>
          <a:noFill/>
          <a:ln/>
        </p:spPr>
        <p:txBody>
          <a:bodyPr wrap="square" rtlCol="0" anchor="ctr"/>
          <a:lstStyle/>
          <a:p>
            <a:pPr algn="ctr" indent="0" marL="0">
              <a:buNone/>
            </a:pPr>
            <a:r>
              <a:rPr lang="en-US" sz="2400" b="1" dirty="0">
                <a:solidFill>
                  <a:srgbClr val="7A6C99"/>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5157216" y="2377440"/>
            <a:ext cx="1874520" cy="1554480"/>
          </a:xfrm>
          <a:prstGeom prst="roundRect">
            <a:avLst>
              <a:gd name="adj" fmla="val 8235"/>
            </a:avLst>
          </a:prstGeom>
          <a:solidFill>
            <a:srgbClr val="F14FA7"/>
          </a:solidFill>
          <a:ln/>
        </p:spPr>
      </p:sp>
      <p:sp>
        <p:nvSpPr>
          <p:cNvPr id="13" name="Text 11"/>
          <p:cNvSpPr/>
          <p:nvPr/>
        </p:nvSpPr>
        <p:spPr>
          <a:xfrm>
            <a:off x="5157216" y="2542032"/>
            <a:ext cx="1874520" cy="7772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Queued for</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Processing</a:t>
            </a:r>
            <a:endParaRPr lang="en-US" sz="1350" dirty="0"/>
          </a:p>
        </p:txBody>
      </p:sp>
      <p:sp>
        <p:nvSpPr>
          <p:cNvPr id="14" name="Text 12"/>
          <p:cNvSpPr/>
          <p:nvPr/>
        </p:nvSpPr>
        <p:spPr>
          <a:xfrm>
            <a:off x="5157216" y="3337560"/>
            <a:ext cx="1874520" cy="457200"/>
          </a:xfrm>
          <a:prstGeom prst="rect">
            <a:avLst/>
          </a:prstGeom>
          <a:noFill/>
          <a:ln/>
        </p:spPr>
        <p:txBody>
          <a:bodyPr wrap="square" rtlCol="0" anchor="ctr"/>
          <a:lstStyle/>
          <a:p>
            <a:pPr algn="ctr" indent="0" marL="0">
              <a:buNone/>
            </a:pPr>
            <a:r>
              <a:rPr lang="en-US" sz="1150" i="1" dirty="0">
                <a:solidFill>
                  <a:srgbClr val="F7F5FC"/>
                </a:solidFill>
                <a:latin typeface="Calibri" pitchFamily="34" charset="0"/>
                <a:ea typeface="Calibri" pitchFamily="34" charset="-122"/>
                <a:cs typeface="Calibri" pitchFamily="34" charset="-120"/>
              </a:rPr>
              <a:t>Queue</a:t>
            </a:r>
            <a:endParaRPr lang="en-US" sz="1150" dirty="0"/>
          </a:p>
        </p:txBody>
      </p:sp>
      <p:sp>
        <p:nvSpPr>
          <p:cNvPr id="15" name="Text 13"/>
          <p:cNvSpPr/>
          <p:nvPr/>
        </p:nvSpPr>
        <p:spPr>
          <a:xfrm>
            <a:off x="7031736" y="2834640"/>
            <a:ext cx="320040" cy="640080"/>
          </a:xfrm>
          <a:prstGeom prst="rect">
            <a:avLst/>
          </a:prstGeom>
          <a:noFill/>
          <a:ln/>
        </p:spPr>
        <p:txBody>
          <a:bodyPr wrap="square" rtlCol="0" anchor="ctr"/>
          <a:lstStyle/>
          <a:p>
            <a:pPr algn="ctr" indent="0" marL="0">
              <a:buNone/>
            </a:pPr>
            <a:r>
              <a:rPr lang="en-US" sz="2400" b="1" dirty="0">
                <a:solidFill>
                  <a:srgbClr val="7A6C99"/>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7351776" y="2377440"/>
            <a:ext cx="1874520" cy="1554480"/>
          </a:xfrm>
          <a:prstGeom prst="roundRect">
            <a:avLst>
              <a:gd name="adj" fmla="val 8235"/>
            </a:avLst>
          </a:prstGeom>
          <a:solidFill>
            <a:srgbClr val="6C3EC7"/>
          </a:solidFill>
          <a:ln/>
        </p:spPr>
      </p:sp>
      <p:sp>
        <p:nvSpPr>
          <p:cNvPr id="17" name="Text 15"/>
          <p:cNvSpPr/>
          <p:nvPr/>
        </p:nvSpPr>
        <p:spPr>
          <a:xfrm>
            <a:off x="7351776" y="2542032"/>
            <a:ext cx="1874520" cy="7772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Urgent Cases</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Prioritized</a:t>
            </a:r>
            <a:endParaRPr lang="en-US" sz="1350" dirty="0"/>
          </a:p>
        </p:txBody>
      </p:sp>
      <p:sp>
        <p:nvSpPr>
          <p:cNvPr id="18" name="Text 16"/>
          <p:cNvSpPr/>
          <p:nvPr/>
        </p:nvSpPr>
        <p:spPr>
          <a:xfrm>
            <a:off x="7351776" y="3337560"/>
            <a:ext cx="1874520" cy="457200"/>
          </a:xfrm>
          <a:prstGeom prst="rect">
            <a:avLst/>
          </a:prstGeom>
          <a:noFill/>
          <a:ln/>
        </p:spPr>
        <p:txBody>
          <a:bodyPr wrap="square" rtlCol="0" anchor="ctr"/>
          <a:lstStyle/>
          <a:p>
            <a:pPr algn="ctr" indent="0" marL="0">
              <a:buNone/>
            </a:pPr>
            <a:r>
              <a:rPr lang="en-US" sz="1150" i="1" dirty="0">
                <a:solidFill>
                  <a:srgbClr val="F7F5FC"/>
                </a:solidFill>
                <a:latin typeface="Calibri" pitchFamily="34" charset="0"/>
                <a:ea typeface="Calibri" pitchFamily="34" charset="-122"/>
                <a:cs typeface="Calibri" pitchFamily="34" charset="-120"/>
              </a:rPr>
              <a:t>PriorityQueue</a:t>
            </a:r>
            <a:endParaRPr lang="en-US" sz="1150" dirty="0"/>
          </a:p>
        </p:txBody>
      </p:sp>
      <p:sp>
        <p:nvSpPr>
          <p:cNvPr id="19" name="Text 17"/>
          <p:cNvSpPr/>
          <p:nvPr/>
        </p:nvSpPr>
        <p:spPr>
          <a:xfrm>
            <a:off x="9226296" y="2834640"/>
            <a:ext cx="320040" cy="640080"/>
          </a:xfrm>
          <a:prstGeom prst="rect">
            <a:avLst/>
          </a:prstGeom>
          <a:noFill/>
          <a:ln/>
        </p:spPr>
        <p:txBody>
          <a:bodyPr wrap="square" rtlCol="0" anchor="ctr"/>
          <a:lstStyle/>
          <a:p>
            <a:pPr algn="ctr" indent="0" marL="0">
              <a:buNone/>
            </a:pPr>
            <a:r>
              <a:rPr lang="en-US" sz="2400" b="1" dirty="0">
                <a:solidFill>
                  <a:srgbClr val="7A6C99"/>
                </a:solidFill>
                <a:latin typeface="Calibri" pitchFamily="34" charset="0"/>
                <a:ea typeface="Calibri" pitchFamily="34" charset="-122"/>
                <a:cs typeface="Calibri" pitchFamily="34" charset="-120"/>
              </a:rPr>
              <a:t>→</a:t>
            </a:r>
            <a:endParaRPr lang="en-US" sz="2400" dirty="0"/>
          </a:p>
        </p:txBody>
      </p:sp>
      <p:sp>
        <p:nvSpPr>
          <p:cNvPr id="20" name="Shape 18"/>
          <p:cNvSpPr/>
          <p:nvPr/>
        </p:nvSpPr>
        <p:spPr>
          <a:xfrm>
            <a:off x="9546336" y="2377440"/>
            <a:ext cx="1874520" cy="1554480"/>
          </a:xfrm>
          <a:prstGeom prst="roundRect">
            <a:avLst>
              <a:gd name="adj" fmla="val 8235"/>
            </a:avLst>
          </a:prstGeom>
          <a:solidFill>
            <a:srgbClr val="3E7CF6"/>
          </a:solidFill>
          <a:ln/>
        </p:spPr>
      </p:sp>
      <p:sp>
        <p:nvSpPr>
          <p:cNvPr id="21" name="Text 19"/>
          <p:cNvSpPr/>
          <p:nvPr/>
        </p:nvSpPr>
        <p:spPr>
          <a:xfrm>
            <a:off x="9546336" y="2542032"/>
            <a:ext cx="1874520" cy="7772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Resolved &amp;</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Sorted</a:t>
            </a:r>
            <a:endParaRPr lang="en-US" sz="1350" dirty="0"/>
          </a:p>
        </p:txBody>
      </p:sp>
      <p:sp>
        <p:nvSpPr>
          <p:cNvPr id="22" name="Text 20"/>
          <p:cNvSpPr/>
          <p:nvPr/>
        </p:nvSpPr>
        <p:spPr>
          <a:xfrm>
            <a:off x="9546336" y="3337560"/>
            <a:ext cx="1874520" cy="457200"/>
          </a:xfrm>
          <a:prstGeom prst="rect">
            <a:avLst/>
          </a:prstGeom>
          <a:noFill/>
          <a:ln/>
        </p:spPr>
        <p:txBody>
          <a:bodyPr wrap="square" rtlCol="0" anchor="ctr"/>
          <a:lstStyle/>
          <a:p>
            <a:pPr algn="ctr" indent="0" marL="0">
              <a:buNone/>
            </a:pPr>
            <a:r>
              <a:rPr lang="en-US" sz="1150" i="1" dirty="0">
                <a:solidFill>
                  <a:srgbClr val="F7F5FC"/>
                </a:solidFill>
                <a:latin typeface="Calibri" pitchFamily="34" charset="0"/>
                <a:ea typeface="Calibri" pitchFamily="34" charset="-122"/>
                <a:cs typeface="Calibri" pitchFamily="34" charset="-120"/>
              </a:rPr>
              <a:t>Sort / Search</a:t>
            </a:r>
            <a:endParaRPr lang="en-US" sz="1150" dirty="0"/>
          </a:p>
        </p:txBody>
      </p:sp>
      <p:sp>
        <p:nvSpPr>
          <p:cNvPr id="23" name="Shape 21"/>
          <p:cNvSpPr/>
          <p:nvPr/>
        </p:nvSpPr>
        <p:spPr>
          <a:xfrm>
            <a:off x="640080" y="4572000"/>
            <a:ext cx="3429000" cy="1737360"/>
          </a:xfrm>
          <a:prstGeom prst="roundRect">
            <a:avLst>
              <a:gd name="adj" fmla="val 5263"/>
            </a:avLst>
          </a:prstGeom>
          <a:solidFill>
            <a:srgbClr val="F7F5FC"/>
          </a:solidFill>
          <a:ln/>
        </p:spPr>
      </p:sp>
      <p:sp>
        <p:nvSpPr>
          <p:cNvPr id="24" name="Text 22"/>
          <p:cNvSpPr/>
          <p:nvPr/>
        </p:nvSpPr>
        <p:spPr>
          <a:xfrm>
            <a:off x="868680" y="4800600"/>
            <a:ext cx="2971800" cy="365760"/>
          </a:xfrm>
          <a:prstGeom prst="rect">
            <a:avLst/>
          </a:prstGeom>
          <a:noFill/>
          <a:ln/>
        </p:spPr>
        <p:txBody>
          <a:bodyPr wrap="square" rtlCol="0" anchor="ctr"/>
          <a:lstStyle/>
          <a:p>
            <a:pPr indent="0" marL="0">
              <a:buNone/>
            </a:pPr>
            <a:r>
              <a:rPr lang="en-US" sz="1450" b="1" dirty="0">
                <a:solidFill>
                  <a:srgbClr val="6C3EC7"/>
                </a:solidFill>
                <a:latin typeface="Calibri" pitchFamily="34" charset="0"/>
                <a:ea typeface="Calibri" pitchFamily="34" charset="-122"/>
                <a:cs typeface="Calibri" pitchFamily="34" charset="-120"/>
              </a:rPr>
              <a:t>Fast Access</a:t>
            </a:r>
            <a:endParaRPr lang="en-US" sz="1450" dirty="0"/>
          </a:p>
        </p:txBody>
      </p:sp>
      <p:sp>
        <p:nvSpPr>
          <p:cNvPr id="25" name="Text 23"/>
          <p:cNvSpPr/>
          <p:nvPr/>
        </p:nvSpPr>
        <p:spPr>
          <a:xfrm>
            <a:off x="868680" y="5257800"/>
            <a:ext cx="2971800" cy="914400"/>
          </a:xfrm>
          <a:prstGeom prst="rect">
            <a:avLst/>
          </a:prstGeom>
          <a:noFill/>
          <a:ln/>
        </p:spPr>
        <p:txBody>
          <a:bodyPr wrap="square" rtlCol="0" anchor="t"/>
          <a:lstStyle/>
          <a:p>
            <a:pPr indent="0" marL="0">
              <a:lnSpc>
                <a:spcPct val="125000"/>
              </a:lnSpc>
              <a:buNone/>
            </a:pPr>
            <a:r>
              <a:rPr lang="en-US" sz="1200" dirty="0">
                <a:solidFill>
                  <a:srgbClr val="7A6C99"/>
                </a:solidFill>
                <a:latin typeface="Calibri" pitchFamily="34" charset="0"/>
                <a:ea typeface="Calibri" pitchFamily="34" charset="-122"/>
                <a:cs typeface="Calibri" pitchFamily="34" charset="-120"/>
              </a:rPr>
              <a:t>HashMap gives near-instant complaint lookup by ID.</a:t>
            </a:r>
            <a:endParaRPr lang="en-US" sz="1200" dirty="0"/>
          </a:p>
        </p:txBody>
      </p:sp>
      <p:sp>
        <p:nvSpPr>
          <p:cNvPr id="26" name="Shape 24"/>
          <p:cNvSpPr/>
          <p:nvPr/>
        </p:nvSpPr>
        <p:spPr>
          <a:xfrm>
            <a:off x="4325112" y="4572000"/>
            <a:ext cx="3429000" cy="1737360"/>
          </a:xfrm>
          <a:prstGeom prst="roundRect">
            <a:avLst>
              <a:gd name="adj" fmla="val 5263"/>
            </a:avLst>
          </a:prstGeom>
          <a:solidFill>
            <a:srgbClr val="F7F5FC"/>
          </a:solidFill>
          <a:ln/>
        </p:spPr>
      </p:sp>
      <p:sp>
        <p:nvSpPr>
          <p:cNvPr id="27" name="Text 25"/>
          <p:cNvSpPr/>
          <p:nvPr/>
        </p:nvSpPr>
        <p:spPr>
          <a:xfrm>
            <a:off x="4553712" y="4800600"/>
            <a:ext cx="2971800" cy="365760"/>
          </a:xfrm>
          <a:prstGeom prst="rect">
            <a:avLst/>
          </a:prstGeom>
          <a:noFill/>
          <a:ln/>
        </p:spPr>
        <p:txBody>
          <a:bodyPr wrap="square" rtlCol="0" anchor="ctr"/>
          <a:lstStyle/>
          <a:p>
            <a:pPr indent="0" marL="0">
              <a:buNone/>
            </a:pPr>
            <a:r>
              <a:rPr lang="en-US" sz="1450" b="1" dirty="0">
                <a:solidFill>
                  <a:srgbClr val="3E7CF6"/>
                </a:solidFill>
                <a:latin typeface="Calibri" pitchFamily="34" charset="0"/>
                <a:ea typeface="Calibri" pitchFamily="34" charset="-122"/>
                <a:cs typeface="Calibri" pitchFamily="34" charset="-120"/>
              </a:rPr>
              <a:t>Fair Ordering</a:t>
            </a:r>
            <a:endParaRPr lang="en-US" sz="1450" dirty="0"/>
          </a:p>
        </p:txBody>
      </p:sp>
      <p:sp>
        <p:nvSpPr>
          <p:cNvPr id="28" name="Text 26"/>
          <p:cNvSpPr/>
          <p:nvPr/>
        </p:nvSpPr>
        <p:spPr>
          <a:xfrm>
            <a:off x="4553712" y="5257800"/>
            <a:ext cx="2971800" cy="914400"/>
          </a:xfrm>
          <a:prstGeom prst="rect">
            <a:avLst/>
          </a:prstGeom>
          <a:noFill/>
          <a:ln/>
        </p:spPr>
        <p:txBody>
          <a:bodyPr wrap="square" rtlCol="0" anchor="t"/>
          <a:lstStyle/>
          <a:p>
            <a:pPr indent="0" marL="0">
              <a:lnSpc>
                <a:spcPct val="125000"/>
              </a:lnSpc>
              <a:buNone/>
            </a:pPr>
            <a:r>
              <a:rPr lang="en-US" sz="1200" dirty="0">
                <a:solidFill>
                  <a:srgbClr val="7A6C99"/>
                </a:solidFill>
                <a:latin typeface="Calibri" pitchFamily="34" charset="0"/>
                <a:ea typeface="Calibri" pitchFamily="34" charset="-122"/>
                <a:cs typeface="Calibri" pitchFamily="34" charset="-120"/>
              </a:rPr>
              <a:t>Queue keeps complaints processed in the order received.</a:t>
            </a:r>
            <a:endParaRPr lang="en-US" sz="1200" dirty="0"/>
          </a:p>
        </p:txBody>
      </p:sp>
      <p:sp>
        <p:nvSpPr>
          <p:cNvPr id="29" name="Shape 27"/>
          <p:cNvSpPr/>
          <p:nvPr/>
        </p:nvSpPr>
        <p:spPr>
          <a:xfrm>
            <a:off x="8010144" y="4572000"/>
            <a:ext cx="3429000" cy="1737360"/>
          </a:xfrm>
          <a:prstGeom prst="roundRect">
            <a:avLst>
              <a:gd name="adj" fmla="val 5263"/>
            </a:avLst>
          </a:prstGeom>
          <a:solidFill>
            <a:srgbClr val="F7F5FC"/>
          </a:solidFill>
          <a:ln/>
        </p:spPr>
      </p:sp>
      <p:sp>
        <p:nvSpPr>
          <p:cNvPr id="30" name="Text 28"/>
          <p:cNvSpPr/>
          <p:nvPr/>
        </p:nvSpPr>
        <p:spPr>
          <a:xfrm>
            <a:off x="8238744" y="4800600"/>
            <a:ext cx="2971800" cy="365760"/>
          </a:xfrm>
          <a:prstGeom prst="rect">
            <a:avLst/>
          </a:prstGeom>
          <a:noFill/>
          <a:ln/>
        </p:spPr>
        <p:txBody>
          <a:bodyPr wrap="square" rtlCol="0" anchor="ctr"/>
          <a:lstStyle/>
          <a:p>
            <a:pPr indent="0" marL="0">
              <a:buNone/>
            </a:pPr>
            <a:r>
              <a:rPr lang="en-US" sz="1450" b="1" dirty="0">
                <a:solidFill>
                  <a:srgbClr val="F14FA7"/>
                </a:solidFill>
                <a:latin typeface="Calibri" pitchFamily="34" charset="0"/>
                <a:ea typeface="Calibri" pitchFamily="34" charset="-122"/>
                <a:cs typeface="Calibri" pitchFamily="34" charset="-120"/>
              </a:rPr>
              <a:t>Smart Priority</a:t>
            </a:r>
            <a:endParaRPr lang="en-US" sz="1450" dirty="0"/>
          </a:p>
        </p:txBody>
      </p:sp>
      <p:sp>
        <p:nvSpPr>
          <p:cNvPr id="31" name="Text 29"/>
          <p:cNvSpPr/>
          <p:nvPr/>
        </p:nvSpPr>
        <p:spPr>
          <a:xfrm>
            <a:off x="8238744" y="5257800"/>
            <a:ext cx="2971800" cy="914400"/>
          </a:xfrm>
          <a:prstGeom prst="rect">
            <a:avLst/>
          </a:prstGeom>
          <a:noFill/>
          <a:ln/>
        </p:spPr>
        <p:txBody>
          <a:bodyPr wrap="square" rtlCol="0" anchor="t"/>
          <a:lstStyle/>
          <a:p>
            <a:pPr indent="0" marL="0">
              <a:lnSpc>
                <a:spcPct val="125000"/>
              </a:lnSpc>
              <a:buNone/>
            </a:pPr>
            <a:r>
              <a:rPr lang="en-US" sz="1200" dirty="0">
                <a:solidFill>
                  <a:srgbClr val="7A6C99"/>
                </a:solidFill>
                <a:latin typeface="Calibri" pitchFamily="34" charset="0"/>
                <a:ea typeface="Calibri" pitchFamily="34" charset="-122"/>
                <a:cs typeface="Calibri" pitchFamily="34" charset="-120"/>
              </a:rPr>
              <a:t>PriorityQueue pushes urgent complaints to the front.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C"/>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600" b="1" dirty="0">
                <a:solidFill>
                  <a:srgbClr val="241546"/>
                </a:solidFill>
                <a:latin typeface="Cambria" pitchFamily="34" charset="0"/>
                <a:ea typeface="Cambria" pitchFamily="34" charset="-122"/>
                <a:cs typeface="Cambria" pitchFamily="34" charset="-120"/>
              </a:rPr>
              <a:t>Tools &amp; Technologies</a:t>
            </a:r>
            <a:endParaRPr lang="en-US" sz="3600" dirty="0"/>
          </a:p>
        </p:txBody>
      </p:sp>
      <p:sp>
        <p:nvSpPr>
          <p:cNvPr id="3" name="Shape 1"/>
          <p:cNvSpPr/>
          <p:nvPr/>
        </p:nvSpPr>
        <p:spPr>
          <a:xfrm>
            <a:off x="640080" y="1417320"/>
            <a:ext cx="10789920" cy="630936"/>
          </a:xfrm>
          <a:prstGeom prst="roundRect">
            <a:avLst>
              <a:gd name="adj" fmla="val 11594"/>
            </a:avLst>
          </a:prstGeom>
          <a:solidFill>
            <a:srgbClr val="FFFFFF"/>
          </a:solidFill>
          <a:ln/>
        </p:spPr>
      </p:sp>
      <p:sp>
        <p:nvSpPr>
          <p:cNvPr id="4" name="Shape 2"/>
          <p:cNvSpPr/>
          <p:nvPr/>
        </p:nvSpPr>
        <p:spPr>
          <a:xfrm>
            <a:off x="822960" y="1540764"/>
            <a:ext cx="384048" cy="384048"/>
          </a:xfrm>
          <a:prstGeom prst="ellipse">
            <a:avLst/>
          </a:prstGeom>
          <a:solidFill>
            <a:srgbClr val="6C3EC7"/>
          </a:solidFill>
          <a:ln/>
        </p:spPr>
      </p:sp>
      <p:sp>
        <p:nvSpPr>
          <p:cNvPr id="5" name="Text 3"/>
          <p:cNvSpPr/>
          <p:nvPr/>
        </p:nvSpPr>
        <p:spPr>
          <a:xfrm>
            <a:off x="822960" y="154076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6" name="Text 4"/>
          <p:cNvSpPr/>
          <p:nvPr/>
        </p:nvSpPr>
        <p:spPr>
          <a:xfrm>
            <a:off x="1417320" y="141732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Programming Language</a:t>
            </a:r>
            <a:endParaRPr lang="en-US" sz="1400" dirty="0"/>
          </a:p>
        </p:txBody>
      </p:sp>
      <p:sp>
        <p:nvSpPr>
          <p:cNvPr id="7" name="Text 5"/>
          <p:cNvSpPr/>
          <p:nvPr/>
        </p:nvSpPr>
        <p:spPr>
          <a:xfrm>
            <a:off x="4663440" y="141732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Java</a:t>
            </a:r>
            <a:endParaRPr lang="en-US" sz="1350" dirty="0"/>
          </a:p>
        </p:txBody>
      </p:sp>
      <p:sp>
        <p:nvSpPr>
          <p:cNvPr id="8" name="Shape 6"/>
          <p:cNvSpPr/>
          <p:nvPr/>
        </p:nvSpPr>
        <p:spPr>
          <a:xfrm>
            <a:off x="640080" y="2194560"/>
            <a:ext cx="10789920" cy="630936"/>
          </a:xfrm>
          <a:prstGeom prst="roundRect">
            <a:avLst>
              <a:gd name="adj" fmla="val 11594"/>
            </a:avLst>
          </a:prstGeom>
          <a:solidFill>
            <a:srgbClr val="FFFFFF"/>
          </a:solidFill>
          <a:ln/>
        </p:spPr>
      </p:sp>
      <p:sp>
        <p:nvSpPr>
          <p:cNvPr id="9" name="Shape 7"/>
          <p:cNvSpPr/>
          <p:nvPr/>
        </p:nvSpPr>
        <p:spPr>
          <a:xfrm>
            <a:off x="822960" y="2318004"/>
            <a:ext cx="384048" cy="384048"/>
          </a:xfrm>
          <a:prstGeom prst="ellipse">
            <a:avLst/>
          </a:prstGeom>
          <a:solidFill>
            <a:srgbClr val="3E7CF6"/>
          </a:solidFill>
          <a:ln/>
        </p:spPr>
      </p:sp>
      <p:sp>
        <p:nvSpPr>
          <p:cNvPr id="10" name="Text 8"/>
          <p:cNvSpPr/>
          <p:nvPr/>
        </p:nvSpPr>
        <p:spPr>
          <a:xfrm>
            <a:off x="822960" y="231800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11" name="Text 9"/>
          <p:cNvSpPr/>
          <p:nvPr/>
        </p:nvSpPr>
        <p:spPr>
          <a:xfrm>
            <a:off x="1417320" y="219456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IDE</a:t>
            </a:r>
            <a:endParaRPr lang="en-US" sz="1400" dirty="0"/>
          </a:p>
        </p:txBody>
      </p:sp>
      <p:sp>
        <p:nvSpPr>
          <p:cNvPr id="12" name="Text 10"/>
          <p:cNvSpPr/>
          <p:nvPr/>
        </p:nvSpPr>
        <p:spPr>
          <a:xfrm>
            <a:off x="4663440" y="219456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IntelliJ IDEA / Eclipse / VS Code</a:t>
            </a:r>
            <a:endParaRPr lang="en-US" sz="1350" dirty="0"/>
          </a:p>
        </p:txBody>
      </p:sp>
      <p:sp>
        <p:nvSpPr>
          <p:cNvPr id="13" name="Shape 11"/>
          <p:cNvSpPr/>
          <p:nvPr/>
        </p:nvSpPr>
        <p:spPr>
          <a:xfrm>
            <a:off x="640080" y="2971800"/>
            <a:ext cx="10789920" cy="630936"/>
          </a:xfrm>
          <a:prstGeom prst="roundRect">
            <a:avLst>
              <a:gd name="adj" fmla="val 11594"/>
            </a:avLst>
          </a:prstGeom>
          <a:solidFill>
            <a:srgbClr val="FFFFFF"/>
          </a:solidFill>
          <a:ln/>
        </p:spPr>
      </p:sp>
      <p:sp>
        <p:nvSpPr>
          <p:cNvPr id="14" name="Shape 12"/>
          <p:cNvSpPr/>
          <p:nvPr/>
        </p:nvSpPr>
        <p:spPr>
          <a:xfrm>
            <a:off x="822960" y="3095244"/>
            <a:ext cx="384048" cy="384048"/>
          </a:xfrm>
          <a:prstGeom prst="ellipse">
            <a:avLst/>
          </a:prstGeom>
          <a:solidFill>
            <a:srgbClr val="F14FA7"/>
          </a:solidFill>
          <a:ln/>
        </p:spPr>
      </p:sp>
      <p:sp>
        <p:nvSpPr>
          <p:cNvPr id="15" name="Text 13"/>
          <p:cNvSpPr/>
          <p:nvPr/>
        </p:nvSpPr>
        <p:spPr>
          <a:xfrm>
            <a:off x="822960" y="309524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16" name="Text 14"/>
          <p:cNvSpPr/>
          <p:nvPr/>
        </p:nvSpPr>
        <p:spPr>
          <a:xfrm>
            <a:off x="1417320" y="297180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JDK</a:t>
            </a:r>
            <a:endParaRPr lang="en-US" sz="1400" dirty="0"/>
          </a:p>
        </p:txBody>
      </p:sp>
      <p:sp>
        <p:nvSpPr>
          <p:cNvPr id="17" name="Text 15"/>
          <p:cNvSpPr/>
          <p:nvPr/>
        </p:nvSpPr>
        <p:spPr>
          <a:xfrm>
            <a:off x="4663440" y="297180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Java Development Kit (JDK 17 or later)</a:t>
            </a:r>
            <a:endParaRPr lang="en-US" sz="1350" dirty="0"/>
          </a:p>
        </p:txBody>
      </p:sp>
      <p:sp>
        <p:nvSpPr>
          <p:cNvPr id="18" name="Shape 16"/>
          <p:cNvSpPr/>
          <p:nvPr/>
        </p:nvSpPr>
        <p:spPr>
          <a:xfrm>
            <a:off x="640080" y="3749040"/>
            <a:ext cx="10789920" cy="630936"/>
          </a:xfrm>
          <a:prstGeom prst="roundRect">
            <a:avLst>
              <a:gd name="adj" fmla="val 11594"/>
            </a:avLst>
          </a:prstGeom>
          <a:solidFill>
            <a:srgbClr val="FFFFFF"/>
          </a:solidFill>
          <a:ln/>
        </p:spPr>
      </p:sp>
      <p:sp>
        <p:nvSpPr>
          <p:cNvPr id="19" name="Shape 17"/>
          <p:cNvSpPr/>
          <p:nvPr/>
        </p:nvSpPr>
        <p:spPr>
          <a:xfrm>
            <a:off x="822960" y="3872484"/>
            <a:ext cx="384048" cy="384048"/>
          </a:xfrm>
          <a:prstGeom prst="ellipse">
            <a:avLst/>
          </a:prstGeom>
          <a:solidFill>
            <a:srgbClr val="6C3EC7"/>
          </a:solidFill>
          <a:ln/>
        </p:spPr>
      </p:sp>
      <p:sp>
        <p:nvSpPr>
          <p:cNvPr id="20" name="Text 18"/>
          <p:cNvSpPr/>
          <p:nvPr/>
        </p:nvSpPr>
        <p:spPr>
          <a:xfrm>
            <a:off x="822960" y="387248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21" name="Text 19"/>
          <p:cNvSpPr/>
          <p:nvPr/>
        </p:nvSpPr>
        <p:spPr>
          <a:xfrm>
            <a:off x="1417320" y="374904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Version Control</a:t>
            </a:r>
            <a:endParaRPr lang="en-US" sz="1400" dirty="0"/>
          </a:p>
        </p:txBody>
      </p:sp>
      <p:sp>
        <p:nvSpPr>
          <p:cNvPr id="22" name="Text 20"/>
          <p:cNvSpPr/>
          <p:nvPr/>
        </p:nvSpPr>
        <p:spPr>
          <a:xfrm>
            <a:off x="4663440" y="374904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Git &amp; GitHub</a:t>
            </a:r>
            <a:endParaRPr lang="en-US" sz="1350" dirty="0"/>
          </a:p>
        </p:txBody>
      </p:sp>
      <p:sp>
        <p:nvSpPr>
          <p:cNvPr id="23" name="Shape 21"/>
          <p:cNvSpPr/>
          <p:nvPr/>
        </p:nvSpPr>
        <p:spPr>
          <a:xfrm>
            <a:off x="640080" y="4526280"/>
            <a:ext cx="10789920" cy="630936"/>
          </a:xfrm>
          <a:prstGeom prst="roundRect">
            <a:avLst>
              <a:gd name="adj" fmla="val 11594"/>
            </a:avLst>
          </a:prstGeom>
          <a:solidFill>
            <a:srgbClr val="FFFFFF"/>
          </a:solidFill>
          <a:ln/>
        </p:spPr>
      </p:sp>
      <p:sp>
        <p:nvSpPr>
          <p:cNvPr id="24" name="Shape 22"/>
          <p:cNvSpPr/>
          <p:nvPr/>
        </p:nvSpPr>
        <p:spPr>
          <a:xfrm>
            <a:off x="822960" y="4649724"/>
            <a:ext cx="384048" cy="384048"/>
          </a:xfrm>
          <a:prstGeom prst="ellipse">
            <a:avLst/>
          </a:prstGeom>
          <a:solidFill>
            <a:srgbClr val="3E7CF6"/>
          </a:solidFill>
          <a:ln/>
        </p:spPr>
      </p:sp>
      <p:sp>
        <p:nvSpPr>
          <p:cNvPr id="25" name="Text 23"/>
          <p:cNvSpPr/>
          <p:nvPr/>
        </p:nvSpPr>
        <p:spPr>
          <a:xfrm>
            <a:off x="822960" y="464972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26" name="Text 24"/>
          <p:cNvSpPr/>
          <p:nvPr/>
        </p:nvSpPr>
        <p:spPr>
          <a:xfrm>
            <a:off x="1417320" y="452628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Data Structures</a:t>
            </a:r>
            <a:endParaRPr lang="en-US" sz="1400" dirty="0"/>
          </a:p>
        </p:txBody>
      </p:sp>
      <p:sp>
        <p:nvSpPr>
          <p:cNvPr id="27" name="Text 25"/>
          <p:cNvSpPr/>
          <p:nvPr/>
        </p:nvSpPr>
        <p:spPr>
          <a:xfrm>
            <a:off x="4663440" y="452628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ArrayList, HashMap, Queue, PriorityQueue</a:t>
            </a:r>
            <a:endParaRPr lang="en-US" sz="1350" dirty="0"/>
          </a:p>
        </p:txBody>
      </p:sp>
      <p:sp>
        <p:nvSpPr>
          <p:cNvPr id="28" name="Shape 26"/>
          <p:cNvSpPr/>
          <p:nvPr/>
        </p:nvSpPr>
        <p:spPr>
          <a:xfrm>
            <a:off x="640080" y="5303520"/>
            <a:ext cx="10789920" cy="630936"/>
          </a:xfrm>
          <a:prstGeom prst="roundRect">
            <a:avLst>
              <a:gd name="adj" fmla="val 11594"/>
            </a:avLst>
          </a:prstGeom>
          <a:solidFill>
            <a:srgbClr val="FFFFFF"/>
          </a:solidFill>
          <a:ln/>
        </p:spPr>
      </p:sp>
      <p:sp>
        <p:nvSpPr>
          <p:cNvPr id="29" name="Shape 27"/>
          <p:cNvSpPr/>
          <p:nvPr/>
        </p:nvSpPr>
        <p:spPr>
          <a:xfrm>
            <a:off x="822960" y="5426964"/>
            <a:ext cx="384048" cy="384048"/>
          </a:xfrm>
          <a:prstGeom prst="ellipse">
            <a:avLst/>
          </a:prstGeom>
          <a:solidFill>
            <a:srgbClr val="F14FA7"/>
          </a:solidFill>
          <a:ln/>
        </p:spPr>
      </p:sp>
      <p:sp>
        <p:nvSpPr>
          <p:cNvPr id="30" name="Text 28"/>
          <p:cNvSpPr/>
          <p:nvPr/>
        </p:nvSpPr>
        <p:spPr>
          <a:xfrm>
            <a:off x="822960" y="5426964"/>
            <a:ext cx="384048" cy="384048"/>
          </a:xfrm>
          <a:prstGeom prst="rect">
            <a:avLst/>
          </a:prstGeom>
          <a:noFill/>
          <a:ln/>
        </p:spPr>
        <p:txBody>
          <a:bodyPr wrap="square" rtlCol="0" anchor="ctr"/>
          <a:lstStyle/>
          <a:p>
            <a:pPr algn="ctr" indent="0" marL="0">
              <a:buNone/>
            </a:pPr>
            <a:r>
              <a:rPr lang="en-US" sz="924" b="1" dirty="0">
                <a:solidFill>
                  <a:srgbClr val="FFFFFF"/>
                </a:solidFill>
                <a:latin typeface="Calibri" pitchFamily="34" charset="0"/>
                <a:ea typeface="Calibri" pitchFamily="34" charset="-122"/>
                <a:cs typeface="Calibri" pitchFamily="34" charset="-120"/>
              </a:rPr>
              <a:t>✓</a:t>
            </a:r>
            <a:endParaRPr lang="en-US" sz="924" dirty="0"/>
          </a:p>
        </p:txBody>
      </p:sp>
      <p:sp>
        <p:nvSpPr>
          <p:cNvPr id="31" name="Text 29"/>
          <p:cNvSpPr/>
          <p:nvPr/>
        </p:nvSpPr>
        <p:spPr>
          <a:xfrm>
            <a:off x="1417320" y="5303520"/>
            <a:ext cx="3108960" cy="630936"/>
          </a:xfrm>
          <a:prstGeom prst="rect">
            <a:avLst/>
          </a:prstGeom>
          <a:noFill/>
          <a:ln/>
        </p:spPr>
        <p:txBody>
          <a:bodyPr wrap="square" rtlCol="0" anchor="ctr"/>
          <a:lstStyle/>
          <a:p>
            <a:pPr indent="0" marL="0">
              <a:buNone/>
            </a:pPr>
            <a:r>
              <a:rPr lang="en-US" sz="1400" b="1" dirty="0">
                <a:solidFill>
                  <a:srgbClr val="241546"/>
                </a:solidFill>
                <a:latin typeface="Calibri" pitchFamily="34" charset="0"/>
                <a:ea typeface="Calibri" pitchFamily="34" charset="-122"/>
                <a:cs typeface="Calibri" pitchFamily="34" charset="-120"/>
              </a:rPr>
              <a:t>Algorithms</a:t>
            </a:r>
            <a:endParaRPr lang="en-US" sz="1400" dirty="0"/>
          </a:p>
        </p:txBody>
      </p:sp>
      <p:sp>
        <p:nvSpPr>
          <p:cNvPr id="32" name="Text 30"/>
          <p:cNvSpPr/>
          <p:nvPr/>
        </p:nvSpPr>
        <p:spPr>
          <a:xfrm>
            <a:off x="4663440" y="5303520"/>
            <a:ext cx="6583680" cy="630936"/>
          </a:xfrm>
          <a:prstGeom prst="rect">
            <a:avLst/>
          </a:prstGeom>
          <a:noFill/>
          <a:ln/>
        </p:spPr>
        <p:txBody>
          <a:bodyPr wrap="square" rtlCol="0" anchor="ctr"/>
          <a:lstStyle/>
          <a:p>
            <a:pPr indent="0" marL="0">
              <a:buNone/>
            </a:pPr>
            <a:r>
              <a:rPr lang="en-US" sz="1350" dirty="0">
                <a:solidFill>
                  <a:srgbClr val="7A6C99"/>
                </a:solidFill>
                <a:latin typeface="Calibri" pitchFamily="34" charset="0"/>
                <a:ea typeface="Calibri" pitchFamily="34" charset="-122"/>
                <a:cs typeface="Calibri" pitchFamily="34" charset="-120"/>
              </a:rPr>
              <a:t>Binary Search, Merge Sort, Quick Sort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9875520" y="4206240"/>
            <a:ext cx="3657600" cy="3657600"/>
          </a:xfrm>
          <a:prstGeom prst="ellipse">
            <a:avLst/>
          </a:prstGeom>
          <a:solidFill>
            <a:srgbClr val="6C3EC7"/>
          </a:solidFill>
          <a:ln/>
        </p:spPr>
      </p:sp>
      <p:sp>
        <p:nvSpPr>
          <p:cNvPr id="3" name="Shape 1"/>
          <p:cNvSpPr/>
          <p:nvPr/>
        </p:nvSpPr>
        <p:spPr>
          <a:xfrm>
            <a:off x="-1280160" y="-1463040"/>
            <a:ext cx="2926080" cy="2926080"/>
          </a:xfrm>
          <a:prstGeom prst="ellipse">
            <a:avLst/>
          </a:prstGeom>
          <a:solidFill>
            <a:srgbClr val="3E7CF6"/>
          </a:solidFill>
          <a:ln/>
        </p:spPr>
      </p:sp>
      <p:sp>
        <p:nvSpPr>
          <p:cNvPr id="4" name="Text 2"/>
          <p:cNvSpPr/>
          <p:nvPr/>
        </p:nvSpPr>
        <p:spPr>
          <a:xfrm>
            <a:off x="640080" y="502920"/>
            <a:ext cx="8229600" cy="640080"/>
          </a:xfrm>
          <a:prstGeom prst="rect">
            <a:avLst/>
          </a:prstGeom>
          <a:noFill/>
          <a:ln/>
        </p:spPr>
        <p:txBody>
          <a:bodyPr wrap="square" rtlCol="0" anchor="ctr"/>
          <a:lstStyle/>
          <a:p>
            <a:pPr indent="0" marL="0">
              <a:buNone/>
            </a:pPr>
            <a:r>
              <a:rPr lang="en-US" sz="3600" b="1" dirty="0">
                <a:solidFill>
                  <a:srgbClr val="241546"/>
                </a:solidFill>
                <a:latin typeface="Cambria" pitchFamily="34" charset="0"/>
                <a:ea typeface="Cambria" pitchFamily="34" charset="-122"/>
                <a:cs typeface="Cambria" pitchFamily="34" charset="-120"/>
              </a:rPr>
              <a:t>Expected Outcome</a:t>
            </a:r>
            <a:endParaRPr lang="en-US" sz="3600" dirty="0"/>
          </a:p>
        </p:txBody>
      </p:sp>
      <p:sp>
        <p:nvSpPr>
          <p:cNvPr id="5" name="Text 3"/>
          <p:cNvSpPr/>
          <p:nvPr/>
        </p:nvSpPr>
        <p:spPr>
          <a:xfrm>
            <a:off x="640080" y="1188720"/>
            <a:ext cx="9875520" cy="822960"/>
          </a:xfrm>
          <a:prstGeom prst="rect">
            <a:avLst/>
          </a:prstGeom>
          <a:noFill/>
          <a:ln/>
        </p:spPr>
        <p:txBody>
          <a:bodyPr wrap="square" rtlCol="0" anchor="ctr"/>
          <a:lstStyle/>
          <a:p>
            <a:pPr indent="0" marL="0">
              <a:lnSpc>
                <a:spcPct val="125000"/>
              </a:lnSpc>
              <a:buNone/>
            </a:pPr>
            <a:r>
              <a:rPr lang="en-US" sz="1500" i="1" dirty="0">
                <a:solidFill>
                  <a:srgbClr val="F14FA7"/>
                </a:solidFill>
                <a:latin typeface="Calibri" pitchFamily="34" charset="0"/>
                <a:ea typeface="Calibri" pitchFamily="34" charset="-122"/>
                <a:cs typeface="Calibri" pitchFamily="34" charset="-120"/>
              </a:rPr>
              <a:t>The Complaint Tracker System will provide an efficient, organized way to manage customer complaints — enabling faster retrieval and prioritized handling through Java and DSA.</a:t>
            </a:r>
            <a:endParaRPr lang="en-US" sz="1500" dirty="0"/>
          </a:p>
        </p:txBody>
      </p:sp>
      <p:sp>
        <p:nvSpPr>
          <p:cNvPr id="6" name="Shape 4"/>
          <p:cNvSpPr/>
          <p:nvPr/>
        </p:nvSpPr>
        <p:spPr>
          <a:xfrm>
            <a:off x="640080" y="2514600"/>
            <a:ext cx="2514600" cy="2880360"/>
          </a:xfrm>
          <a:prstGeom prst="roundRect">
            <a:avLst>
              <a:gd name="adj" fmla="val 3636"/>
            </a:avLst>
          </a:prstGeom>
          <a:solidFill>
            <a:srgbClr val="3D2270"/>
          </a:solidFill>
          <a:ln/>
        </p:spPr>
      </p:sp>
      <p:sp>
        <p:nvSpPr>
          <p:cNvPr id="7" name="Text 5"/>
          <p:cNvSpPr/>
          <p:nvPr/>
        </p:nvSpPr>
        <p:spPr>
          <a:xfrm>
            <a:off x="640080" y="2743200"/>
            <a:ext cx="2514600" cy="914400"/>
          </a:xfrm>
          <a:prstGeom prst="rect">
            <a:avLst/>
          </a:prstGeom>
          <a:noFill/>
          <a:ln/>
        </p:spPr>
        <p:txBody>
          <a:bodyPr wrap="square" rtlCol="0" anchor="ctr"/>
          <a:lstStyle/>
          <a:p>
            <a:pPr algn="ctr" indent="0" marL="0">
              <a:buNone/>
            </a:pPr>
            <a:r>
              <a:rPr lang="en-US" sz="4000" b="1" dirty="0">
                <a:solidFill>
                  <a:srgbClr val="F14FA7"/>
                </a:solidFill>
                <a:latin typeface="Cambria" pitchFamily="34" charset="0"/>
                <a:ea typeface="Cambria" pitchFamily="34" charset="-122"/>
                <a:cs typeface="Cambria" pitchFamily="34" charset="-120"/>
              </a:rPr>
              <a:t>1</a:t>
            </a:r>
            <a:endParaRPr lang="en-US" sz="4000" dirty="0"/>
          </a:p>
        </p:txBody>
      </p:sp>
      <p:sp>
        <p:nvSpPr>
          <p:cNvPr id="8" name="Text 6"/>
          <p:cNvSpPr/>
          <p:nvPr/>
        </p:nvSpPr>
        <p:spPr>
          <a:xfrm>
            <a:off x="822960" y="3886200"/>
            <a:ext cx="2148840" cy="1280160"/>
          </a:xfrm>
          <a:prstGeom prst="rect">
            <a:avLst/>
          </a:prstGeom>
          <a:noFill/>
          <a:ln/>
        </p:spPr>
        <p:txBody>
          <a:bodyPr wrap="square" rtlCol="0" anchor="t"/>
          <a:lstStyle/>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Register, search, update</a:t>
            </a:r>
            <a:endParaRPr lang="en-US" sz="1300" dirty="0"/>
          </a:p>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and track complaints easily</a:t>
            </a:r>
            <a:endParaRPr lang="en-US" sz="1300" dirty="0"/>
          </a:p>
        </p:txBody>
      </p:sp>
      <p:sp>
        <p:nvSpPr>
          <p:cNvPr id="9" name="Shape 7"/>
          <p:cNvSpPr/>
          <p:nvPr/>
        </p:nvSpPr>
        <p:spPr>
          <a:xfrm>
            <a:off x="3410712" y="2514600"/>
            <a:ext cx="2514600" cy="2880360"/>
          </a:xfrm>
          <a:prstGeom prst="roundRect">
            <a:avLst>
              <a:gd name="adj" fmla="val 3636"/>
            </a:avLst>
          </a:prstGeom>
          <a:solidFill>
            <a:srgbClr val="3D2270"/>
          </a:solidFill>
          <a:ln/>
        </p:spPr>
      </p:sp>
      <p:sp>
        <p:nvSpPr>
          <p:cNvPr id="10" name="Text 8"/>
          <p:cNvSpPr/>
          <p:nvPr/>
        </p:nvSpPr>
        <p:spPr>
          <a:xfrm>
            <a:off x="3410712" y="2743200"/>
            <a:ext cx="2514600" cy="914400"/>
          </a:xfrm>
          <a:prstGeom prst="rect">
            <a:avLst/>
          </a:prstGeom>
          <a:noFill/>
          <a:ln/>
        </p:spPr>
        <p:txBody>
          <a:bodyPr wrap="square" rtlCol="0" anchor="ctr"/>
          <a:lstStyle/>
          <a:p>
            <a:pPr algn="ctr" indent="0" marL="0">
              <a:buNone/>
            </a:pPr>
            <a:r>
              <a:rPr lang="en-US" sz="4000" b="1" dirty="0">
                <a:solidFill>
                  <a:srgbClr val="F14FA7"/>
                </a:solidFill>
                <a:latin typeface="Cambria" pitchFamily="34" charset="0"/>
                <a:ea typeface="Cambria" pitchFamily="34" charset="-122"/>
                <a:cs typeface="Cambria" pitchFamily="34" charset="-120"/>
              </a:rPr>
              <a:t>2</a:t>
            </a:r>
            <a:endParaRPr lang="en-US" sz="4000" dirty="0"/>
          </a:p>
        </p:txBody>
      </p:sp>
      <p:sp>
        <p:nvSpPr>
          <p:cNvPr id="11" name="Text 9"/>
          <p:cNvSpPr/>
          <p:nvPr/>
        </p:nvSpPr>
        <p:spPr>
          <a:xfrm>
            <a:off x="3593592" y="3886200"/>
            <a:ext cx="2148840" cy="1280160"/>
          </a:xfrm>
          <a:prstGeom prst="rect">
            <a:avLst/>
          </a:prstGeom>
          <a:noFill/>
          <a:ln/>
        </p:spPr>
        <p:txBody>
          <a:bodyPr wrap="square" rtlCol="0" anchor="t"/>
          <a:lstStyle/>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Faster data retrieval</a:t>
            </a:r>
            <a:endParaRPr lang="en-US" sz="1300" dirty="0"/>
          </a:p>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using HashMap</a:t>
            </a:r>
            <a:endParaRPr lang="en-US" sz="1300" dirty="0"/>
          </a:p>
        </p:txBody>
      </p:sp>
      <p:sp>
        <p:nvSpPr>
          <p:cNvPr id="12" name="Shape 10"/>
          <p:cNvSpPr/>
          <p:nvPr/>
        </p:nvSpPr>
        <p:spPr>
          <a:xfrm>
            <a:off x="6181344" y="2514600"/>
            <a:ext cx="2514600" cy="2880360"/>
          </a:xfrm>
          <a:prstGeom prst="roundRect">
            <a:avLst>
              <a:gd name="adj" fmla="val 3636"/>
            </a:avLst>
          </a:prstGeom>
          <a:solidFill>
            <a:srgbClr val="3D2270"/>
          </a:solidFill>
          <a:ln/>
        </p:spPr>
      </p:sp>
      <p:sp>
        <p:nvSpPr>
          <p:cNvPr id="13" name="Text 11"/>
          <p:cNvSpPr/>
          <p:nvPr/>
        </p:nvSpPr>
        <p:spPr>
          <a:xfrm>
            <a:off x="6181344" y="2743200"/>
            <a:ext cx="2514600" cy="914400"/>
          </a:xfrm>
          <a:prstGeom prst="rect">
            <a:avLst/>
          </a:prstGeom>
          <a:noFill/>
          <a:ln/>
        </p:spPr>
        <p:txBody>
          <a:bodyPr wrap="square" rtlCol="0" anchor="ctr"/>
          <a:lstStyle/>
          <a:p>
            <a:pPr algn="ctr" indent="0" marL="0">
              <a:buNone/>
            </a:pPr>
            <a:r>
              <a:rPr lang="en-US" sz="4000" b="1" dirty="0">
                <a:solidFill>
                  <a:srgbClr val="F14FA7"/>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6364224" y="3886200"/>
            <a:ext cx="2148840" cy="1280160"/>
          </a:xfrm>
          <a:prstGeom prst="rect">
            <a:avLst/>
          </a:prstGeom>
          <a:noFill/>
          <a:ln/>
        </p:spPr>
        <p:txBody>
          <a:bodyPr wrap="square" rtlCol="0" anchor="t"/>
          <a:lstStyle/>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Prioritized handling</a:t>
            </a:r>
            <a:endParaRPr lang="en-US" sz="1300" dirty="0"/>
          </a:p>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via PriorityQueue</a:t>
            </a:r>
            <a:endParaRPr lang="en-US" sz="1300" dirty="0"/>
          </a:p>
        </p:txBody>
      </p:sp>
      <p:sp>
        <p:nvSpPr>
          <p:cNvPr id="15" name="Shape 13"/>
          <p:cNvSpPr/>
          <p:nvPr/>
        </p:nvSpPr>
        <p:spPr>
          <a:xfrm>
            <a:off x="8951976" y="2514600"/>
            <a:ext cx="2514600" cy="2880360"/>
          </a:xfrm>
          <a:prstGeom prst="roundRect">
            <a:avLst>
              <a:gd name="adj" fmla="val 3636"/>
            </a:avLst>
          </a:prstGeom>
          <a:solidFill>
            <a:srgbClr val="3D2270"/>
          </a:solidFill>
          <a:ln/>
        </p:spPr>
      </p:sp>
      <p:sp>
        <p:nvSpPr>
          <p:cNvPr id="16" name="Text 14"/>
          <p:cNvSpPr/>
          <p:nvPr/>
        </p:nvSpPr>
        <p:spPr>
          <a:xfrm>
            <a:off x="8951976" y="2743200"/>
            <a:ext cx="2514600" cy="914400"/>
          </a:xfrm>
          <a:prstGeom prst="rect">
            <a:avLst/>
          </a:prstGeom>
          <a:noFill/>
          <a:ln/>
        </p:spPr>
        <p:txBody>
          <a:bodyPr wrap="square" rtlCol="0" anchor="ctr"/>
          <a:lstStyle/>
          <a:p>
            <a:pPr algn="ctr" indent="0" marL="0">
              <a:buNone/>
            </a:pPr>
            <a:r>
              <a:rPr lang="en-US" sz="4000" b="1" dirty="0">
                <a:solidFill>
                  <a:srgbClr val="F14FA7"/>
                </a:solidFill>
                <a:latin typeface="Cambria" pitchFamily="34" charset="0"/>
                <a:ea typeface="Cambria" pitchFamily="34" charset="-122"/>
                <a:cs typeface="Cambria" pitchFamily="34" charset="-120"/>
              </a:rPr>
              <a:t>4</a:t>
            </a:r>
            <a:endParaRPr lang="en-US" sz="4000" dirty="0"/>
          </a:p>
        </p:txBody>
      </p:sp>
      <p:sp>
        <p:nvSpPr>
          <p:cNvPr id="17" name="Text 15"/>
          <p:cNvSpPr/>
          <p:nvPr/>
        </p:nvSpPr>
        <p:spPr>
          <a:xfrm>
            <a:off x="9134856" y="3886200"/>
            <a:ext cx="2148840" cy="1280160"/>
          </a:xfrm>
          <a:prstGeom prst="rect">
            <a:avLst/>
          </a:prstGeom>
          <a:noFill/>
          <a:ln/>
        </p:spPr>
        <p:txBody>
          <a:bodyPr wrap="square" rtlCol="0" anchor="t"/>
          <a:lstStyle/>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Real-world use of</a:t>
            </a:r>
            <a:endParaRPr lang="en-US" sz="1300" dirty="0"/>
          </a:p>
          <a:p>
            <a:pPr algn="ctr" indent="0" marL="0">
              <a:lnSpc>
                <a:spcPct val="125000"/>
              </a:lnSpc>
              <a:buNone/>
            </a:pPr>
            <a:r>
              <a:rPr lang="en-US" sz="1300" dirty="0">
                <a:solidFill>
                  <a:srgbClr val="F7F5FC"/>
                </a:solidFill>
                <a:latin typeface="Calibri" pitchFamily="34" charset="0"/>
                <a:ea typeface="Calibri" pitchFamily="34" charset="-122"/>
                <a:cs typeface="Calibri" pitchFamily="34" charset="-120"/>
              </a:rPr>
              <a:t>Java &amp; DSA concepts</a:t>
            </a:r>
            <a:endParaRPr lang="en-US" sz="1300" dirty="0"/>
          </a:p>
        </p:txBody>
      </p:sp>
      <p:sp>
        <p:nvSpPr>
          <p:cNvPr id="18" name="Text 16"/>
          <p:cNvSpPr/>
          <p:nvPr/>
        </p:nvSpPr>
        <p:spPr>
          <a:xfrm>
            <a:off x="640080" y="6263640"/>
            <a:ext cx="9144000" cy="320040"/>
          </a:xfrm>
          <a:prstGeom prst="rect">
            <a:avLst/>
          </a:prstGeom>
          <a:noFill/>
          <a:ln/>
        </p:spPr>
        <p:txBody>
          <a:bodyPr wrap="square" rtlCol="0" anchor="ctr"/>
          <a:lstStyle/>
          <a:p>
            <a:pPr indent="0" marL="0">
              <a:buNone/>
            </a:pPr>
            <a:r>
              <a:rPr lang="en-US" sz="1050" dirty="0">
                <a:solidFill>
                  <a:srgbClr val="7A6C99"/>
                </a:solidFill>
                <a:latin typeface="Calibri" pitchFamily="34" charset="0"/>
                <a:ea typeface="Calibri" pitchFamily="34" charset="-122"/>
                <a:cs typeface="Calibri" pitchFamily="34" charset="-120"/>
              </a:rPr>
              <a:t>Complaint Tracker  •  G. Sri Ram | B. Chandrika | G. B. Vedaditya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8961120" y="-1645920"/>
            <a:ext cx="4572000" cy="4572000"/>
          </a:xfrm>
          <a:prstGeom prst="ellipse">
            <a:avLst/>
          </a:prstGeom>
          <a:solidFill>
            <a:srgbClr val="6C3EC7"/>
          </a:solidFill>
          <a:ln/>
        </p:spPr>
      </p:sp>
      <p:sp>
        <p:nvSpPr>
          <p:cNvPr id="3" name="Shape 1"/>
          <p:cNvSpPr/>
          <p:nvPr/>
        </p:nvSpPr>
        <p:spPr>
          <a:xfrm>
            <a:off x="-1645920" y="4206240"/>
            <a:ext cx="3840480" cy="3840480"/>
          </a:xfrm>
          <a:prstGeom prst="ellipse">
            <a:avLst/>
          </a:prstGeom>
          <a:solidFill>
            <a:srgbClr val="3E7CF6"/>
          </a:solidFill>
          <a:ln/>
        </p:spPr>
      </p:sp>
      <p:sp>
        <p:nvSpPr>
          <p:cNvPr id="4" name="Shape 2"/>
          <p:cNvSpPr/>
          <p:nvPr/>
        </p:nvSpPr>
        <p:spPr>
          <a:xfrm>
            <a:off x="5120640" y="5394960"/>
            <a:ext cx="1463040" cy="1463040"/>
          </a:xfrm>
          <a:prstGeom prst="ellipse">
            <a:avLst/>
          </a:prstGeom>
          <a:solidFill>
            <a:srgbClr val="F14FA7"/>
          </a:solidFill>
          <a:ln/>
        </p:spPr>
      </p:sp>
      <p:sp>
        <p:nvSpPr>
          <p:cNvPr id="5" name="Text 3"/>
          <p:cNvSpPr/>
          <p:nvPr/>
        </p:nvSpPr>
        <p:spPr>
          <a:xfrm>
            <a:off x="0" y="2468880"/>
            <a:ext cx="12188952" cy="1097280"/>
          </a:xfrm>
          <a:prstGeom prst="rect">
            <a:avLst/>
          </a:prstGeom>
          <a:noFill/>
          <a:ln/>
        </p:spPr>
        <p:txBody>
          <a:bodyPr wrap="square" rtlCol="0" anchor="ctr"/>
          <a:lstStyle/>
          <a:p>
            <a:pPr algn="ctr" indent="0" marL="0">
              <a:buNone/>
            </a:pPr>
            <a:r>
              <a:rPr lang="en-US" sz="5400" b="1" dirty="0">
                <a:solidFill>
                  <a:srgbClr val="241546"/>
                </a:solidFill>
                <a:latin typeface="Cambria" pitchFamily="34" charset="0"/>
                <a:ea typeface="Cambria" pitchFamily="34" charset="-122"/>
                <a:cs typeface="Cambria" pitchFamily="34" charset="-120"/>
              </a:rPr>
              <a:t>Thank You</a:t>
            </a:r>
            <a:endParaRPr lang="en-US" sz="5400" dirty="0"/>
          </a:p>
        </p:txBody>
      </p:sp>
      <p:sp>
        <p:nvSpPr>
          <p:cNvPr id="6" name="Text 4"/>
          <p:cNvSpPr/>
          <p:nvPr/>
        </p:nvSpPr>
        <p:spPr>
          <a:xfrm>
            <a:off x="0" y="3429000"/>
            <a:ext cx="12188952" cy="502920"/>
          </a:xfrm>
          <a:prstGeom prst="rect">
            <a:avLst/>
          </a:prstGeom>
          <a:noFill/>
          <a:ln/>
        </p:spPr>
        <p:txBody>
          <a:bodyPr wrap="square" rtlCol="0" anchor="ctr"/>
          <a:lstStyle/>
          <a:p>
            <a:pPr algn="ctr" indent="0" marL="0">
              <a:buNone/>
            </a:pPr>
            <a:r>
              <a:rPr lang="en-US" sz="1800" i="1" dirty="0">
                <a:solidFill>
                  <a:srgbClr val="F14FA7"/>
                </a:solidFill>
                <a:latin typeface="Calibri" pitchFamily="34" charset="0"/>
                <a:ea typeface="Calibri" pitchFamily="34" charset="-122"/>
                <a:cs typeface="Calibri" pitchFamily="34" charset="-120"/>
              </a:rPr>
              <a:t>Complaint Tracker System</a:t>
            </a:r>
            <a:endParaRPr lang="en-US" sz="1800" dirty="0"/>
          </a:p>
        </p:txBody>
      </p:sp>
      <p:sp>
        <p:nvSpPr>
          <p:cNvPr id="7" name="Text 5"/>
          <p:cNvSpPr/>
          <p:nvPr/>
        </p:nvSpPr>
        <p:spPr>
          <a:xfrm>
            <a:off x="0" y="4160520"/>
            <a:ext cx="12188952" cy="457200"/>
          </a:xfrm>
          <a:prstGeom prst="rect">
            <a:avLst/>
          </a:prstGeom>
          <a:noFill/>
          <a:ln/>
        </p:spPr>
        <p:txBody>
          <a:bodyPr wrap="square" rtlCol="0" anchor="ctr"/>
          <a:lstStyle/>
          <a:p>
            <a:pPr algn="ctr" indent="0" marL="0">
              <a:buNone/>
            </a:pPr>
            <a:r>
              <a:rPr lang="en-US" sz="1350" dirty="0">
                <a:solidFill>
                  <a:srgbClr val="7A6C99"/>
                </a:solidFill>
                <a:latin typeface="Calibri" pitchFamily="34" charset="0"/>
                <a:ea typeface="Calibri" pitchFamily="34" charset="-122"/>
                <a:cs typeface="Calibri" pitchFamily="34" charset="-120"/>
              </a:rPr>
              <a:t>G. Sri Ram  (2520030218)   |   B. Chandrika  (2520030047)   |   G. B. Vedaditya  (2520030481)</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2026-08-02T04:54:54Z</dcterms:created>
  <dcterms:modified xsi:type="dcterms:W3CDTF">2026-08-02T04:54:54Z</dcterms:modified>
</cp:coreProperties>
</file>